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9" r:id="rId19"/>
    <p:sldId id="260" r:id="rId9"/>
    <p:sldId id="268" r:id="rId18"/>
    <p:sldId id="261" r:id="rId10"/>
    <p:sldId id="262" r:id="rId11"/>
    <p:sldId id="263" r:id="rId12"/>
    <p:sldId id="264" r:id="rId13"/>
    <p:sldId id="265" r:id="rId14"/>
    <p:sldId id="266" r:id="rId15"/>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QuomGbdS/wh2yqkB/K4YAZ70Y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6.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customschemas.google.com/relationships/presentationmetadata" Target="metadata"/><Relationship Id="rId18" Type="http://schemas.openxmlformats.org/officeDocument/2006/relationships/slide" Target="slides/slide7.xml"/><Relationship Id="rId19"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14142B"/>
                </a:solidFill>
                <a:latin typeface="Calibri"/>
              </a:rPr>
              <a:t>NDCG@10, AppsRetrieval test (CPU)</a:t>
            </a:r>
          </a:p>
        </c:rich>
      </c:tx>
      <c:layout/>
      <c:overlay val="0"/>
    </c:title>
    <c:autoTitleDeleted val="0"/>
    <c:plotArea>
      <c:barChart>
        <c:barDir val="col"/>
        <c:grouping val="clustered"/>
        <c:ser>
          <c:idx val="0"/>
          <c:order val="0"/>
          <c:tx>
            <c:strRef>
              <c:f>Sheet1!$B$1</c:f>
              <c:strCache>
                <c:ptCount val="1"/>
                <c:pt idx="0">
                  <c:v>NDCG@10</c:v>
                </c:pt>
              </c:strCache>
            </c:strRef>
          </c:tx>
          <c:dPt>
            <c:idx val="0"/>
            <c:spPr>
              <a:solidFill>
                <a:srgbClr val="B9B4C7"/>
              </a:solidFill>
            </c:spPr>
          </c:dPt>
          <c:dPt>
            <c:idx val="1"/>
            <c:spPr>
              <a:solidFill>
                <a:srgbClr val="A78BDA"/>
              </a:solidFill>
            </c:spPr>
          </c:dPt>
          <c:dPt>
            <c:idx val="2"/>
            <c:spPr>
              <a:solidFill>
                <a:srgbClr val="6D28D9"/>
              </a:solidFill>
            </c:spPr>
          </c:dPt>
          <c:cat>
            <c:strRef>
              <c:f>Sheet1!$A$2:$A$4</c:f>
              <c:strCache>
                <c:ptCount val="3"/>
                <c:pt idx="0">
                  <c:v>BM25</c:v>
                </c:pt>
                <c:pt idx="1">
                  <c:v>Base model</c:v>
                </c:pt>
                <c:pt idx="2">
                  <c:v>Ours</c:v>
                </c:pt>
              </c:strCache>
            </c:strRef>
          </c:cat>
          <c:val>
            <c:numRef>
              <c:f>Sheet1!$B$2:$B$4</c:f>
              <c:numCache>
                <c:formatCode>General</c:formatCode>
                <c:ptCount val="3"/>
                <c:pt idx="0">
                  <c:v>0.056</c:v>
                </c:pt>
                <c:pt idx="1">
                  <c:v>0.2368</c:v>
                </c:pt>
                <c:pt idx="2">
                  <c:v>0.472</c:v>
                </c:pt>
              </c:numCache>
            </c:numRef>
          </c:val>
        </c:ser>
        <c:dLbls>
          <c:numFmt formatCode="0.000" sourceLinked="0"/>
          <c:txPr>
            <a:bodyPr/>
            <a:lstStyle/>
            <a:p>
              <a:pPr>
                <a:defRPr sz="1100" b="1"/>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CD2F5"/>
            </a:solidFill>
          </a:ln>
        </c:spPr>
        <c:txPr>
          <a:bodyPr/>
          <a:lstStyle/>
          <a:p>
            <a:pPr>
              <a:defRPr sz="1100"/>
            </a:pPr>
          </a:p>
        </c:txPr>
        <c:crossAx val="-2113994440"/>
        <c:crosses val="autoZero"/>
        <c:auto val="1"/>
        <c:lblAlgn val="ctr"/>
        <c:lblOffset val="100"/>
        <c:noMultiLvlLbl val="0"/>
      </c:catAx>
      <c:valAx>
        <c:axId val="-2113994440"/>
        <c:scaling>
          <c:max val="0.6"/>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Hi, we are Team Toothpaste Eaters from SRM Institute of Science and Technology: Rajdeep, Madhur and Ayush. Our project is a code search engine: you describe what you are looking for in plain English and it returns the exact functions that do it, on CPU, for whichever version of the codebase you pick.</a:t>
            </a:r>
          </a:p>
        </p:txBody>
      </p:sp>
      <p:sp>
        <p:nvSpPr>
          <p:cNvPr id="88" name="Google Shape;8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The theme is code retrieval: given a question in natural language, rank the code snippets that answer it. Samsung ranked three goals: accuracy first, then retrieval across versions, then the bonus of searching all versions at once. We built all three.</a:t>
            </a:r>
          </a:p>
        </p:txBody>
      </p:sp>
      <p:sp>
        <p:nvSpPr>
          <p:cNvPr id="99" name="Google Shape;9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Keyword search fails because problem statements and code share almost no words. Stock embedding models do better but lose track in long statements. An LLM cannot fit thousands of snippets and is too slow. And none of these handle versions: you either rebuild everything or you drown in duplicates.</a:t>
            </a:r>
          </a:p>
        </p:txBody>
      </p:sp>
      <p:sp>
        <p:nvSpPr>
          <p:cNvPr id="105" name="Google Shape;1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Everything heavy happens offline. At query time we only clean the question, encode it on CPU and do a vector search, then group copies of the same function across versions. Offline, git diff tells us which files changed, and a content hash means unchanged code is never embedded twice.</a:t>
            </a:r>
          </a:p>
        </p:txBody>
      </p:sp>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Live demo on the APPS corpus. We type the problem in plain English, and 28 milliseconds later on CPU we get ranked solutions. For this tough query the top hit is Kadane's algorithm, even though the code never uses the words contiguous or subarray. Note: the demo searches the full APPS corpus; our benchmark numbers are on the held-out test split only.</a:t>
            </a:r>
          </a:p>
        </p:txBody>
      </p:sp>
      <p:sp>
        <p:nvSpPr>
          <p:cNvPr id="117" name="Google Shape;11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The model is CodeRankEmbed, small enough for CPU. We trained and built indexes on a free Kaggle T4, and the demo runs as a Gradio app on Hugging Face. The tests run without torch, which let us check logic on our own laptops.</a:t>
            </a:r>
          </a:p>
        </p:txBody>
      </p:sp>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The main user is a coding agent: if retrieval is right, everything after it gets cheaper and more accurate. It also helps people new to a codebase, support engineers working on old releases, and teams that cannot afford GPUs.</a:t>
            </a:r>
          </a:p>
        </p:txBody>
      </p:sp>
      <p:sp>
        <p:nvSpPr>
          <p:cNvPr id="129" name="Google Shape;1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What is new: we clean long problem statements before encoding, we never re-embed code we have already seen, and we group copies of a function across versions. Results: NDCG@10 went from 0.237 to 0.472; rebuilding after a small release is 45 times faster. We are honest about limits: only Python gets function-level chunks, and we tested versioning on one repo.</a:t>
            </a:r>
          </a:p>
        </p:txBody>
      </p:sp>
      <p:sp>
        <p:nvSpPr>
          <p:cNvPr id="135" name="Google Shape;13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Next we want to categorise queries, add a second retrieval pass with a small reranker, support more languages with tree-sitter, test on bigger repos, and expose the search as a tool that coding agents can call.</a:t>
            </a:r>
          </a:p>
        </p:txBody>
      </p:sp>
      <p:sp>
        <p:nvSpPr>
          <p:cNvPr id="141" name="Google Shape;14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For the bonus, searching all versions at once normally gives you the same function six times. We group those copies into one lineage with a small timeline, so the top ten goes from four unique functions to ten. We also found and fixed a silent library bug that was corrupting embeddings.</a:t>
            </a:r>
          </a:p>
        </p:txBody>
      </p:sp>
      <p:sp>
        <p:nvSpPr>
          <p:cNvPr id="147" name="Google Shape;14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Everything is in the tagged commit: code, README with setup steps, this deck, and the results JSON attached to the release. The commands on the right reproduce our benchmark result and the version search on CPU. The demo video is in the linked Google Drive folder.</a:t>
            </a:r>
          </a:p>
        </p:txBody>
      </p:sp>
      <p:sp>
        <p:nvSpPr>
          <p:cNvPr id="153" name="Google Shape;1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endParaRPr/>
          </a:p>
        </p:txBody>
      </p:sp>
      <p:sp>
        <p:nvSpPr>
          <p:cNvPr id="160" name="Google Shape;16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Now the same question on the requests library at two versions eleven years apart. In 2013 the function lives in requests/utils.py and is thirty lines long; in 2024 it moved under src/ and was rewritten to ten lines. It is the top result in both, because the model matches what the code does, not how it is written.</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Two changes gave us most of the gain. First, we clean the query: keep the description and the input and output format, and drop sample tests, notes and constraints. Second, we fine-tuned CodeRankEmbed on the APPS train split only; the test split was never used for training or picking the checkpoint. Together that doubled NDCG@10.</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3"/>
          <p:cNvSpPr/>
          <p:nvPr>
            <p:ph idx="2" type="pic"/>
          </p:nvPr>
        </p:nvSpPr>
        <p:spPr>
          <a:xfrm>
            <a:off x="5183188" y="987425"/>
            <a:ext cx="6172200" cy="4873625"/>
          </a:xfrm>
          <a:prstGeom prst="rect">
            <a:avLst/>
          </a:prstGeom>
          <a:noFill/>
          <a:ln>
            <a:noFill/>
          </a:ln>
        </p:spPr>
      </p:sp>
      <p:sp>
        <p:nvSpPr>
          <p:cNvPr id="69" name="Google Shape;69;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drive.google.com/drive/folders/1SwFD5EhbK2stWclYkAy1kMGQzIAE8t-G" TargetMode="External"/><Relationship Id="rId5" Type="http://schemas.openxmlformats.org/officeDocument/2006/relationships/hyperlink" Target="https://github.com/madhurgrover-cs/TASIE/releases/tag/PRISM_GENAI_HACKATHON_Y2026"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github.com/madhurgrover-cs/TASIE/releases/tag/PRISM_GENAI_HACKATHON_Y2026" TargetMode="External"/><Relationship Id="rId4" Type="http://schemas.openxmlformats.org/officeDocument/2006/relationships/hyperlink" Target="https://drive.google.com/drive/folders/1SwFD5EhbK2stWclYkAy1kMGQzIAE8t-G" TargetMode="External"/><Relationship Id="rId5" Type="http://schemas.openxmlformats.org/officeDocument/2006/relationships/hyperlink" Target="https://huggingface.co/spaces/madhurr382/code-search-demo" TargetMode="External"/><Relationship Id="rId6" Type="http://schemas.openxmlformats.org/officeDocument/2006/relationships/hyperlink" Target="https://huggingface.co/madhurr382/coderankembed-apps-ft" TargetMode="External"/><Relationship Id="rId7" Type="http://schemas.openxmlformats.org/officeDocument/2006/relationships/hyperlink" Target="https://huggingface.co/datasets/madhurr382/apps-corpus-index" TargetMode="External"/><Relationship Id="rId8" Type="http://schemas.openxmlformats.org/officeDocument/2006/relationships/hyperlink" Target="https://huggingface.co/datasets/madhurr382/repo-versions-index"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github.com/madhurgrover-cs/TASIE/releases/tag/PRISM_GENAI_HACKATHON_Y2026" TargetMode="External"/><Relationship Id="rId4" Type="http://schemas.openxmlformats.org/officeDocument/2006/relationships/hyperlink" Target="https://huggingface.co/spaces/madhurr382/code-search-demo" TargetMode="External"/><Relationship Id="rId5" Type="http://schemas.openxmlformats.org/officeDocument/2006/relationships/hyperlink" Target="https://drive.google.com/drive/folders/1SwFD5EhbK2stWclYkAy1kMGQzIAE8t-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fmla="val 50000" name="adj"/>
            </a:avLst>
          </a:prstGeom>
          <a:solidFill>
            <a:srgbClr val="FFFFFF"/>
          </a:solidFill>
          <a:ln cap="flat" cmpd="sng" w="12700">
            <a:solidFill>
              <a:srgbClr val="D9D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
          <p:cNvSpPr txBox="1"/>
          <p:nvPr/>
        </p:nvSpPr>
        <p:spPr>
          <a:xfrm>
            <a:off x="777240" y="676656"/>
            <a:ext cx="24231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D28D9"/>
              </a:buClr>
              <a:buSzPts val="1100"/>
              <a:buFont typeface="Arial"/>
              <a:buNone/>
            </a:pPr>
            <a:r>
              <a:rPr b="1" i="0" lang="en-US" sz="1100" u="none" cap="none" strike="noStrike">
                <a:solidFill>
                  <a:srgbClr val="6D28D9"/>
                </a:solidFill>
                <a:latin typeface="Arial"/>
                <a:ea typeface="Arial"/>
                <a:cs typeface="Arial"/>
                <a:sym typeface="Arial"/>
              </a:rPr>
              <a:t>SAMSUNG PRISM</a:t>
            </a:r>
            <a:endParaRPr b="0" i="0" sz="1100" u="none" cap="none" strike="noStrik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5000"/>
              <a:buFont typeface="Arial"/>
              <a:buNone/>
            </a:pPr>
            <a:r>
              <a:rPr b="1" i="0" lang="en-US" sz="5000" u="none" cap="none" strike="noStrike">
                <a:solidFill>
                  <a:srgbClr val="14142B"/>
                </a:solidFill>
                <a:latin typeface="Arial"/>
                <a:ea typeface="Arial"/>
                <a:cs typeface="Arial"/>
                <a:sym typeface="Arial"/>
              </a:rPr>
              <a:t>Generative AI</a:t>
            </a:r>
            <a:endParaRPr b="0" i="0" sz="5000" u="none" cap="none" strike="noStrik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8D9"/>
              </a:buClr>
              <a:buSzPts val="5000"/>
              <a:buFont typeface="Arial"/>
              <a:buNone/>
            </a:pPr>
            <a:r>
              <a:rPr b="1" i="0" lang="en-US" sz="5000" u="none" cap="none" strike="noStrike">
                <a:solidFill>
                  <a:srgbClr val="6D28D9"/>
                </a:solidFill>
                <a:latin typeface="Arial"/>
                <a:ea typeface="Arial"/>
                <a:cs typeface="Arial"/>
                <a:sym typeface="Arial"/>
              </a:rPr>
              <a:t>Hackathon</a:t>
            </a:r>
            <a:endParaRPr b="0" i="0" sz="5000" u="none" cap="none" strike="noStrike">
              <a:solidFill>
                <a:schemeClr val="dk1"/>
              </a:solidFill>
              <a:latin typeface="Calibri"/>
              <a:ea typeface="Calibri"/>
              <a:cs typeface="Calibri"/>
              <a:sym typeface="Calibri"/>
            </a:endParaRPr>
          </a:p>
        </p:txBody>
      </p:sp>
      <p:sp>
        <p:nvSpPr>
          <p:cNvPr id="94" name="Google Shape;94;p1"/>
          <p:cNvSpPr txBox="1"/>
          <p:nvPr/>
        </p:nvSpPr>
        <p:spPr>
          <a:xfrm>
            <a:off x="777240" y="2724912"/>
            <a:ext cx="6126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2500"/>
              <a:buFont typeface="Arial"/>
              <a:buNone/>
            </a:pPr>
            <a:r>
              <a:rPr b="1" i="0" lang="en-US" sz="2500" u="none" cap="none" strike="noStrike">
                <a:solidFill>
                  <a:srgbClr val="14142B"/>
                </a:solidFill>
                <a:latin typeface="Arial"/>
                <a:ea typeface="Arial"/>
                <a:cs typeface="Arial"/>
                <a:sym typeface="Arial"/>
              </a:rPr>
              <a:t>3rd Edition</a:t>
            </a:r>
            <a:r>
              <a:rPr b="0" i="0" lang="en-US" sz="2000" u="none" cap="none" strike="noStrike">
                <a:solidFill>
                  <a:srgbClr val="63637E"/>
                </a:solidFill>
                <a:latin typeface="Calibri"/>
                <a:ea typeface="Calibri"/>
                <a:cs typeface="Calibri"/>
                <a:sym typeface="Calibri"/>
              </a:rPr>
              <a:t>   2026 – 27</a:t>
            </a:r>
            <a:endParaRPr b="0" i="0" sz="2500" u="none" cap="none" strike="noStrike">
              <a:solidFill>
                <a:schemeClr val="dk1"/>
              </a:solidFill>
              <a:latin typeface="Calibri"/>
              <a:ea typeface="Calibri"/>
              <a:cs typeface="Calibri"/>
              <a:sym typeface="Calibri"/>
            </a:endParaRPr>
          </a:p>
        </p:txBody>
      </p:sp>
      <p:sp>
        <p:nvSpPr>
          <p:cNvPr id="95" name="Google Shape;95;p1"/>
          <p:cNvSpPr txBox="1"/>
          <p:nvPr/>
        </p:nvSpPr>
        <p:spPr>
          <a:xfrm>
            <a:off x="777240" y="3246120"/>
            <a:ext cx="6126480" cy="2651760"/>
          </a:xfrm>
          <a:prstGeom prst="rect">
            <a:avLst/>
          </a:prstGeom>
          <a:noFill/>
          <a:ln>
            <a:noFill/>
          </a:ln>
        </p:spPr>
        <p:txBody>
          <a:bodyPr anchorCtr="0" anchor="t" bIns="0" lIns="0" spcFirstLastPara="1" rIns="0" wrap="square" tIns="0"/>
          <a:lstStyle/>
          <a:p>
            <a:pPr indent="-177800" lvl="0" marL="177800" marR="0" rtl="0" algn="l">
              <a:spcBef>
                <a:spcPts val="0"/>
              </a:spcBef>
              <a:spcAft>
                <a:spcPts val="500"/>
              </a:spcAft>
              <a:buClr>
                <a:srgbClr val="63637E"/>
              </a:buClr>
              <a:buSzPts val="1600"/>
              <a:buFont typeface="Calibri"/>
              <a:buChar char="•"/>
            </a:pPr>
            <a:r>
              <a:rPr b="1" i="0" lang="en-US" sz="1300" u="none" cap="none" strike="noStrike">
                <a:solidFill>
                  <a:srgbClr val="63637E"/>
                </a:solidFill>
                <a:latin typeface="Calibri"/>
                <a:ea typeface="Calibri"/>
                <a:cs typeface="Calibri"/>
                <a:sym typeface="Calibri"/>
              </a:rPr>
              <a:t>Theme ID - </a:t>
            </a:r>
            <a:r>
              <a:rPr b="0" i="0" lang="en-US" sz="1300" u="none" cap="none" strike="noStrike">
                <a:solidFill>
                  <a:srgbClr val="63637E"/>
                </a:solidFill>
                <a:latin typeface="Calibri"/>
                <a:ea typeface="Calibri"/>
                <a:cs typeface="Calibri"/>
                <a:sym typeface="Calibri"/>
              </a:rPr>
              <a:t>Theme 1: Agentic Code Intelligence</a:t>
            </a:r>
            <a:endParaRPr/>
          </a:p>
          <a:p>
            <a:pPr indent="-177800" lvl="0" marL="177800" marR="0" rtl="0" algn="l">
              <a:spcBef>
                <a:spcPts val="0"/>
              </a:spcBef>
              <a:spcAft>
                <a:spcPts val="500"/>
              </a:spcAft>
              <a:buClr>
                <a:srgbClr val="63637E"/>
              </a:buClr>
              <a:buSzPts val="1600"/>
              <a:buFont typeface="Calibri"/>
              <a:buChar char="•"/>
            </a:pPr>
            <a:r>
              <a:rPr b="1" i="0" lang="en-US" sz="1300" u="none" cap="none" strike="noStrike">
                <a:solidFill>
                  <a:srgbClr val="63637E"/>
                </a:solidFill>
                <a:latin typeface="Calibri"/>
                <a:ea typeface="Calibri"/>
                <a:cs typeface="Calibri"/>
                <a:sym typeface="Calibri"/>
              </a:rPr>
              <a:t>Project Title - </a:t>
            </a:r>
            <a:r>
              <a:rPr b="0" i="0" lang="en-US" sz="1300" u="none" cap="none" strike="noStrike">
                <a:solidFill>
                  <a:srgbClr val="63637E"/>
                </a:solidFill>
                <a:latin typeface="Calibri"/>
                <a:ea typeface="Calibri"/>
                <a:cs typeface="Calibri"/>
                <a:sym typeface="Calibri"/>
              </a:rPr>
              <a:t>Version-aware natural-language code search on CPU</a:t>
            </a:r>
            <a:endParaRPr/>
          </a:p>
          <a:p>
            <a:pPr indent="-177800" lvl="0" marL="177800" marR="0" rtl="0" algn="l">
              <a:spcBef>
                <a:spcPts val="0"/>
              </a:spcBef>
              <a:spcAft>
                <a:spcPts val="500"/>
              </a:spcAft>
              <a:buClr>
                <a:srgbClr val="63637E"/>
              </a:buClr>
              <a:buSzPts val="1600"/>
              <a:buFont typeface="Calibri"/>
              <a:buChar char="•"/>
            </a:pPr>
            <a:r>
              <a:rPr b="1" i="0" lang="en-US" sz="1300" u="none" cap="none" strike="noStrike">
                <a:solidFill>
                  <a:srgbClr val="63637E"/>
                </a:solidFill>
                <a:latin typeface="Calibri"/>
                <a:ea typeface="Calibri"/>
                <a:cs typeface="Calibri"/>
                <a:sym typeface="Calibri"/>
              </a:rPr>
              <a:t>Team Name - </a:t>
            </a:r>
            <a:r>
              <a:rPr b="0" i="0" lang="en-US" sz="1300" u="none" cap="none" strike="noStrike">
                <a:solidFill>
                  <a:srgbClr val="63637E"/>
                </a:solidFill>
                <a:latin typeface="Calibri"/>
                <a:ea typeface="Calibri"/>
                <a:cs typeface="Calibri"/>
                <a:sym typeface="Calibri"/>
              </a:rPr>
              <a:t>Toothpaste Eaters</a:t>
            </a:r>
            <a:endParaRPr/>
          </a:p>
          <a:p>
            <a:pPr indent="-177800" lvl="0" marL="177800" marR="0" rtl="0" algn="l">
              <a:spcBef>
                <a:spcPts val="0"/>
              </a:spcBef>
              <a:spcAft>
                <a:spcPts val="500"/>
              </a:spcAft>
              <a:buClr>
                <a:srgbClr val="63637E"/>
              </a:buClr>
              <a:buSzPts val="1600"/>
              <a:buFont typeface="Calibri"/>
              <a:buChar char="•"/>
            </a:pPr>
            <a:r>
              <a:rPr b="1" i="0" lang="en-US" sz="1300" u="none" cap="none" strike="noStrike">
                <a:solidFill>
                  <a:srgbClr val="63637E"/>
                </a:solidFill>
                <a:latin typeface="Calibri"/>
                <a:ea typeface="Calibri"/>
                <a:cs typeface="Calibri"/>
                <a:sym typeface="Calibri"/>
              </a:rPr>
              <a:t>College Name - </a:t>
            </a:r>
            <a:r>
              <a:rPr b="0" i="0" lang="en-US" sz="1300" u="none" cap="none" strike="noStrike">
                <a:solidFill>
                  <a:srgbClr val="63637E"/>
                </a:solidFill>
                <a:latin typeface="Calibri"/>
                <a:ea typeface="Calibri"/>
                <a:cs typeface="Calibri"/>
                <a:sym typeface="Calibri"/>
              </a:rPr>
              <a:t>SRM INSTITUTE OF SCIENCE AND TECHNOLOGY</a:t>
            </a:r>
            <a:endParaRPr/>
          </a:p>
          <a:p>
            <a:pPr indent="-177800" lvl="0" marL="177800" marR="0" rtl="0" algn="l">
              <a:spcBef>
                <a:spcPts val="0"/>
              </a:spcBef>
              <a:spcAft>
                <a:spcPts val="500"/>
              </a:spcAft>
              <a:buClr>
                <a:srgbClr val="63637E"/>
              </a:buClr>
              <a:buSzPts val="1600"/>
              <a:buFont typeface="Calibri"/>
              <a:buChar char="•"/>
            </a:pPr>
            <a:r>
              <a:rPr b="1" i="0" lang="en-US" sz="1300" u="none" cap="none" strike="noStrike">
                <a:solidFill>
                  <a:srgbClr val="63637E"/>
                </a:solidFill>
                <a:latin typeface="Calibri"/>
                <a:ea typeface="Calibri"/>
                <a:cs typeface="Calibri"/>
                <a:sym typeface="Calibri"/>
              </a:rPr>
              <a:t>Member Name &amp; Email 1- </a:t>
            </a:r>
            <a:r>
              <a:rPr b="0" i="0" lang="en-US" sz="1300" u="none" cap="none" strike="noStrike">
                <a:solidFill>
                  <a:srgbClr val="63637E"/>
                </a:solidFill>
                <a:latin typeface="Calibri"/>
                <a:ea typeface="Calibri"/>
                <a:cs typeface="Calibri"/>
                <a:sym typeface="Calibri"/>
              </a:rPr>
              <a:t>Rajdeep Kulkarni · rk9127@srmist.edu.in</a:t>
            </a:r>
            <a:endParaRPr/>
          </a:p>
          <a:p>
            <a:pPr indent="-177800" lvl="0" marL="177800" marR="0" rtl="0" algn="l">
              <a:spcBef>
                <a:spcPts val="0"/>
              </a:spcBef>
              <a:spcAft>
                <a:spcPts val="500"/>
              </a:spcAft>
              <a:buClr>
                <a:srgbClr val="63637E"/>
              </a:buClr>
              <a:buSzPts val="1600"/>
              <a:buFont typeface="Calibri"/>
              <a:buChar char="•"/>
            </a:pPr>
            <a:r>
              <a:rPr b="1" i="0" lang="en-US" sz="1300" u="none" cap="none" strike="noStrike">
                <a:solidFill>
                  <a:srgbClr val="63637E"/>
                </a:solidFill>
                <a:latin typeface="Calibri"/>
                <a:ea typeface="Calibri"/>
                <a:cs typeface="Calibri"/>
                <a:sym typeface="Calibri"/>
              </a:rPr>
              <a:t>Member Name &amp; Email 2- </a:t>
            </a:r>
            <a:r>
              <a:rPr b="0" i="0" lang="en-US" sz="1300" u="none" cap="none" strike="noStrike">
                <a:solidFill>
                  <a:srgbClr val="63637E"/>
                </a:solidFill>
                <a:latin typeface="Calibri"/>
                <a:ea typeface="Calibri"/>
                <a:cs typeface="Calibri"/>
                <a:sym typeface="Calibri"/>
              </a:rPr>
              <a:t>Madhur Grover · mg9251@srmist.edu.in</a:t>
            </a:r>
            <a:endParaRPr/>
          </a:p>
          <a:p>
            <a:pPr indent="-177800" lvl="0" marL="177800" marR="0" rtl="0" algn="l">
              <a:spcBef>
                <a:spcPts val="0"/>
              </a:spcBef>
              <a:spcAft>
                <a:spcPts val="500"/>
              </a:spcAft>
              <a:buClr>
                <a:srgbClr val="63637E"/>
              </a:buClr>
              <a:buSzPts val="1600"/>
              <a:buFont typeface="Calibri"/>
              <a:buChar char="•"/>
            </a:pPr>
            <a:r>
              <a:rPr b="1" i="0" lang="en-US" sz="1300" u="none" cap="none" strike="noStrike">
                <a:solidFill>
                  <a:srgbClr val="63637E"/>
                </a:solidFill>
                <a:latin typeface="Calibri"/>
                <a:ea typeface="Calibri"/>
                <a:cs typeface="Calibri"/>
                <a:sym typeface="Calibri"/>
              </a:rPr>
              <a:t>Member Name &amp; Email 3- </a:t>
            </a:r>
            <a:r>
              <a:rPr b="0" i="0" lang="en-US" sz="1300" u="none" cap="none" strike="noStrike">
                <a:solidFill>
                  <a:srgbClr val="63637E"/>
                </a:solidFill>
                <a:latin typeface="Calibri"/>
                <a:ea typeface="Calibri"/>
                <a:cs typeface="Calibri"/>
                <a:sym typeface="Calibri"/>
              </a:rPr>
              <a:t>Ayush Bidwai · ab8331@srmist.edu.in</a:t>
            </a:r>
            <a:endParaRPr/>
          </a:p>
          <a:p>
            <a:pPr indent="-177800" lvl="0" marL="177800" marR="0" rtl="0" algn="l">
              <a:spcBef>
                <a:spcPts val="0"/>
              </a:spcBef>
              <a:spcAft>
                <a:spcPts val="500"/>
              </a:spcAft>
              <a:buClr>
                <a:srgbClr val="63637E"/>
              </a:buClr>
              <a:buSzPts val="1600"/>
              <a:buFont typeface="Calibri"/>
              <a:buChar char="•"/>
            </a:pPr>
            <a:r>
              <a:rPr b="1" i="0" lang="en-US" sz="1300" u="none" cap="none" strike="noStrike">
                <a:solidFill>
                  <a:srgbClr val="63637E"/>
                </a:solidFill>
                <a:latin typeface="Calibri"/>
                <a:ea typeface="Calibri"/>
                <a:cs typeface="Calibri"/>
                <a:sym typeface="Calibri"/>
              </a:rPr>
              <a:t>Demo Video - </a:t>
            </a:r>
            <a:r>
              <a:rPr b="0" i="0" lang="en-US" sz="1300" u="none" cap="none" strike="noStrike">
                <a:solidFill>
                  <a:srgbClr val="63637E"/>
                </a:solidFill>
                <a:latin typeface="Calibri"/>
                <a:ea typeface="Calibri"/>
                <a:cs typeface="Calibri"/>
                <a:sym typeface="Calibri"/>
                <a:hlinkClick r:id="rId4"/>
              </a:rPr>
              <a:t>Google Drive folder (link)</a:t>
            </a:r>
            <a:endParaRPr/>
          </a:p>
          <a:p>
            <a:pPr indent="-177800" lvl="0" marL="177800" marR="0" rtl="0" algn="l">
              <a:spcBef>
                <a:spcPts val="0"/>
              </a:spcBef>
              <a:spcAft>
                <a:spcPts val="500"/>
              </a:spcAft>
              <a:buClr>
                <a:srgbClr val="63637E"/>
              </a:buClr>
              <a:buSzPts val="1600"/>
              <a:buFont typeface="Calibri"/>
              <a:buChar char="•"/>
            </a:pPr>
            <a:r>
              <a:rPr b="1" i="0" lang="en-US" sz="1300" u="none" cap="none" strike="noStrike">
                <a:solidFill>
                  <a:srgbClr val="63637E"/>
                </a:solidFill>
                <a:latin typeface="Calibri"/>
                <a:ea typeface="Calibri"/>
                <a:cs typeface="Calibri"/>
                <a:sym typeface="Calibri"/>
              </a:rPr>
              <a:t>Submission Github link - </a:t>
            </a:r>
            <a:br/>
            <a:r>
              <a:rPr b="0" i="0" lang="en-US" sz="1150" u="none" cap="none" strike="noStrike">
                <a:solidFill>
                  <a:srgbClr val="63637E"/>
                </a:solidFill>
                <a:latin typeface="Calibri"/>
                <a:ea typeface="Calibri"/>
                <a:cs typeface="Calibri"/>
                <a:sym typeface="Calibri"/>
                <a:hlinkClick r:id="rId5"/>
              </a:rPr>
              <a:t>https://github.com/madhurgrover-cs/TASIE/releases/tag/PRISM_GENAI_HACKATHON_Y2026</a:t>
            </a:r>
            <a:endParaRPr/>
          </a:p>
        </p:txBody>
      </p:sp>
      <p:pic>
        <p:nvPicPr>
          <p:cNvPr descr="hero_network.png" id="96" name="Google Shape;96;p1"/>
          <p:cNvPicPr preferRelativeResize="0"/>
          <p:nvPr/>
        </p:nvPicPr>
        <p:blipFill rotWithShape="1">
          <a:blip r:embed="rId3">
            <a:alphaModFix/>
          </a:blip>
          <a:srcRect b="0" l="0" r="0" t="0"/>
          <a:stretch/>
        </p:blipFill>
        <p:spPr>
          <a:xfrm>
            <a:off x="7059168" y="1051560"/>
            <a:ext cx="4572000" cy="457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
          <p:cNvSpPr txBox="1"/>
          <p:nvPr>
            <p:ph type="title"/>
          </p:nvPr>
        </p:nvSpPr>
        <p:spPr>
          <a:xfrm>
            <a:off x="548640" y="320040"/>
            <a:ext cx="11064240" cy="731520"/>
          </a:xfrm>
          <a:prstGeom prst="rect">
            <a:avLst/>
          </a:prstGeom>
          <a:noFill/>
          <a:ln>
            <a:noFill/>
          </a:ln>
        </p:spPr>
        <p:txBody>
          <a:bodyPr anchorCtr="0" anchor="ctr" bIns="45700" lIns="91425" spcFirstLastPara="1" rIns="91425" wrap="square" tIns="45700"/>
          <a:lstStyle/>
          <a:p>
            <a:pPr indent="0" lvl="0" marL="0" rtl="0" algn="l">
              <a:lnSpc>
                <a:spcPct val="90000"/>
              </a:lnSpc>
              <a:spcBef>
                <a:spcPts val="0"/>
              </a:spcBef>
              <a:spcAft>
                <a:spcPts val="0"/>
              </a:spcAft>
              <a:buClr>
                <a:srgbClr val="704EA6"/>
              </a:buClr>
              <a:buSzPts val="4400"/>
              <a:buFont typeface="Calibri"/>
              <a:buNone/>
            </a:pPr>
            <a:r>
              <a:rPr b="1" lang="en-US" sz="3000">
                <a:solidFill>
                  <a:srgbClr val="704EA6"/>
                </a:solidFill>
                <a:latin typeface="Calibri"/>
                <a:ea typeface="Calibri"/>
                <a:cs typeface="Calibri"/>
                <a:sym typeface="Calibri"/>
              </a:rPr>
              <a:t>Theme</a:t>
            </a:r>
            <a:endParaRPr/>
          </a:p>
        </p:txBody>
      </p:sp>
      <p:sp>
        <p:nvSpPr>
          <p:cNvPr id="102" name="TextBox 101"/>
          <p:cNvSpPr txBox="1"/>
          <p:nvPr/>
        </p:nvSpPr>
        <p:spPr>
          <a:xfrm>
            <a:off x="548640" y="1097280"/>
            <a:ext cx="10972800" cy="320040"/>
          </a:xfrm>
          <a:prstGeom prst="rect">
            <a:avLst/>
          </a:prstGeom>
          <a:noFill/>
        </p:spPr>
        <p:txBody>
          <a:bodyPr wrap="square" lIns="0" rIns="0" tIns="0" bIns="0" anchor="t">
            <a:spAutoFit/>
          </a:bodyPr>
          <a:lstStyle/>
          <a:p>
            <a:pPr algn="l">
              <a:spcAft>
                <a:spcPts val="600"/>
              </a:spcAft>
            </a:pPr>
            <a:r>
              <a:rPr sz="1500" b="1" i="0">
                <a:solidFill>
                  <a:srgbClr val="6D28D9"/>
                </a:solidFill>
                <a:latin typeface="Calibri"/>
              </a:rPr>
              <a:t>Theme 1 · Agentic Code Intelligence · Code retrieval</a:t>
            </a:r>
          </a:p>
        </p:txBody>
      </p:sp>
      <p:sp>
        <p:nvSpPr>
          <p:cNvPr id="103" name="Rounded Rectangle 102"/>
          <p:cNvSpPr/>
          <p:nvPr/>
        </p:nvSpPr>
        <p:spPr>
          <a:xfrm>
            <a:off x="548640" y="1600200"/>
            <a:ext cx="5029200" cy="4526280"/>
          </a:xfrm>
          <a:prstGeom prst="roundRect">
            <a:avLst>
              <a:gd name="adj" fmla="val 6000"/>
            </a:avLst>
          </a:prstGeom>
          <a:solidFill>
            <a:srgbClr val="F4F0FD"/>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822960" y="1783080"/>
            <a:ext cx="4572000" cy="365760"/>
          </a:xfrm>
          <a:prstGeom prst="rect">
            <a:avLst/>
          </a:prstGeom>
          <a:noFill/>
        </p:spPr>
        <p:txBody>
          <a:bodyPr wrap="square" lIns="0" rIns="0" tIns="0" bIns="0" anchor="t">
            <a:spAutoFit/>
          </a:bodyPr>
          <a:lstStyle/>
          <a:p>
            <a:pPr algn="l">
              <a:spcAft>
                <a:spcPts val="600"/>
              </a:spcAft>
            </a:pPr>
            <a:r>
              <a:rPr sz="1800" b="1" i="0">
                <a:solidFill>
                  <a:srgbClr val="14142B"/>
                </a:solidFill>
                <a:latin typeface="Calibri"/>
              </a:rPr>
              <a:t>The problem, in our words</a:t>
            </a:r>
          </a:p>
        </p:txBody>
      </p:sp>
      <p:sp>
        <p:nvSpPr>
          <p:cNvPr id="105" name="TextBox 104"/>
          <p:cNvSpPr txBox="1"/>
          <p:nvPr/>
        </p:nvSpPr>
        <p:spPr>
          <a:xfrm>
            <a:off x="822960" y="2286000"/>
            <a:ext cx="4526280" cy="3749039"/>
          </a:xfrm>
          <a:prstGeom prst="rect">
            <a:avLst/>
          </a:prstGeom>
          <a:noFill/>
        </p:spPr>
        <p:txBody>
          <a:bodyPr wrap="square" lIns="0" rIns="0" tIns="0" bIns="0" anchor="t">
            <a:spAutoFit/>
          </a:bodyPr>
          <a:lstStyle/>
          <a:p>
            <a:pPr algn="l">
              <a:spcAft>
                <a:spcPts val="1200"/>
              </a:spcAft>
            </a:pPr>
            <a:r>
              <a:rPr sz="1500" b="0" i="0">
                <a:solidFill>
                  <a:srgbClr val="14142B"/>
                </a:solidFill>
                <a:latin typeface="Calibri"/>
              </a:rPr>
              <a:t>Before an agent can fix a bug, it has to find the right code. That step is still slow and often wrong, and it gets worse as the repo grows.</a:t>
            </a:r>
          </a:p>
          <a:p>
            <a:pPr algn="l">
              <a:spcAft>
                <a:spcPts val="1200"/>
              </a:spcAft>
            </a:pPr>
            <a:r>
              <a:rPr sz="1500" b="0" i="0">
                <a:solidFill>
                  <a:srgbClr val="14142B"/>
                </a:solidFill>
                <a:latin typeface="Calibri"/>
              </a:rPr>
              <a:t>Our job: take a plain-English question and thousands of code snippets, and rank the snippets that actually answer it.</a:t>
            </a:r>
          </a:p>
          <a:p>
            <a:pPr algn="l">
              <a:spcAft>
                <a:spcPts val="1200"/>
              </a:spcAft>
            </a:pPr>
            <a:r>
              <a:rPr sz="1500" b="0" i="0">
                <a:solidFill>
                  <a:srgbClr val="14142B"/>
                </a:solidFill>
                <a:latin typeface="Calibri"/>
              </a:rPr>
              <a:t>It has to run on CPU, and it has to keep working when the code changes, because real repos get new commits every day.</a:t>
            </a:r>
          </a:p>
        </p:txBody>
      </p:sp>
      <p:sp>
        <p:nvSpPr>
          <p:cNvPr id="106" name="Rounded Rectangle 105"/>
          <p:cNvSpPr/>
          <p:nvPr/>
        </p:nvSpPr>
        <p:spPr>
          <a:xfrm>
            <a:off x="5897880" y="1600200"/>
            <a:ext cx="5715000" cy="1371600"/>
          </a:xfrm>
          <a:prstGeom prst="roundRect">
            <a:avLst>
              <a:gd name="adj" fmla="val 6000"/>
            </a:avLst>
          </a:prstGeom>
          <a:solidFill>
            <a:srgbClr val="FFFFFF"/>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Oval 106"/>
          <p:cNvSpPr/>
          <p:nvPr/>
        </p:nvSpPr>
        <p:spPr>
          <a:xfrm>
            <a:off x="6126480" y="1856232"/>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P0</a:t>
            </a:r>
          </a:p>
        </p:txBody>
      </p:sp>
      <p:sp>
        <p:nvSpPr>
          <p:cNvPr id="108" name="TextBox 107"/>
          <p:cNvSpPr txBox="1"/>
          <p:nvPr/>
        </p:nvSpPr>
        <p:spPr>
          <a:xfrm>
            <a:off x="6766560" y="1801368"/>
            <a:ext cx="2926080" cy="365760"/>
          </a:xfrm>
          <a:prstGeom prst="rect">
            <a:avLst/>
          </a:prstGeom>
          <a:noFill/>
        </p:spPr>
        <p:txBody>
          <a:bodyPr wrap="square" lIns="0" rIns="0" tIns="0" bIns="0" anchor="t">
            <a:spAutoFit/>
          </a:bodyPr>
          <a:lstStyle/>
          <a:p>
            <a:pPr algn="l">
              <a:spcAft>
                <a:spcPts val="600"/>
              </a:spcAft>
            </a:pPr>
            <a:r>
              <a:rPr sz="1600" b="1" i="0">
                <a:solidFill>
                  <a:srgbClr val="14142B"/>
                </a:solidFill>
                <a:latin typeface="Calibri"/>
              </a:rPr>
              <a:t>Retrieval accuracy</a:t>
            </a:r>
          </a:p>
        </p:txBody>
      </p:sp>
      <p:sp>
        <p:nvSpPr>
          <p:cNvPr id="109" name="TextBox 108"/>
          <p:cNvSpPr txBox="1"/>
          <p:nvPr/>
        </p:nvSpPr>
        <p:spPr>
          <a:xfrm>
            <a:off x="6766560" y="2203704"/>
            <a:ext cx="2651760" cy="685800"/>
          </a:xfrm>
          <a:prstGeom prst="rect">
            <a:avLst/>
          </a:prstGeom>
          <a:noFill/>
        </p:spPr>
        <p:txBody>
          <a:bodyPr wrap="square" lIns="0" rIns="0" tIns="0" bIns="0" anchor="t">
            <a:spAutoFit/>
          </a:bodyPr>
          <a:lstStyle/>
          <a:p>
            <a:pPr algn="l">
              <a:spcAft>
                <a:spcPts val="600"/>
              </a:spcAft>
            </a:pPr>
            <a:r>
              <a:rPr sz="1300" b="0" i="0">
                <a:solidFill>
                  <a:srgbClr val="55556E"/>
                </a:solidFill>
                <a:latin typeface="Calibri"/>
              </a:rPr>
              <a:t>Fine-tuned embedding model + query cleanup</a:t>
            </a:r>
          </a:p>
        </p:txBody>
      </p:sp>
      <p:sp>
        <p:nvSpPr>
          <p:cNvPr id="110" name="TextBox 109"/>
          <p:cNvSpPr txBox="1"/>
          <p:nvPr/>
        </p:nvSpPr>
        <p:spPr>
          <a:xfrm>
            <a:off x="9326880" y="1783080"/>
            <a:ext cx="2103120" cy="1005840"/>
          </a:xfrm>
          <a:prstGeom prst="rect">
            <a:avLst/>
          </a:prstGeom>
          <a:noFill/>
        </p:spPr>
        <p:txBody>
          <a:bodyPr wrap="square" lIns="0" rIns="0" tIns="0" bIns="0" anchor="ctr">
            <a:spAutoFit/>
          </a:bodyPr>
          <a:lstStyle/>
          <a:p>
            <a:pPr algn="r">
              <a:spcAft>
                <a:spcPts val="600"/>
              </a:spcAft>
            </a:pPr>
            <a:r>
              <a:rPr sz="1700" b="1" i="0">
                <a:solidFill>
                  <a:srgbClr val="6D28D9"/>
                </a:solidFill>
                <a:latin typeface="Calibri"/>
              </a:rPr>
              <a:t>0.472 NDCG@10</a:t>
            </a:r>
          </a:p>
        </p:txBody>
      </p:sp>
      <p:sp>
        <p:nvSpPr>
          <p:cNvPr id="111" name="Rounded Rectangle 110"/>
          <p:cNvSpPr/>
          <p:nvPr/>
        </p:nvSpPr>
        <p:spPr>
          <a:xfrm>
            <a:off x="5897880" y="3154680"/>
            <a:ext cx="5715000" cy="1371600"/>
          </a:xfrm>
          <a:prstGeom prst="roundRect">
            <a:avLst>
              <a:gd name="adj" fmla="val 6000"/>
            </a:avLst>
          </a:prstGeom>
          <a:solidFill>
            <a:srgbClr val="FFFFFF"/>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Oval 111"/>
          <p:cNvSpPr/>
          <p:nvPr/>
        </p:nvSpPr>
        <p:spPr>
          <a:xfrm>
            <a:off x="6126480" y="3410712"/>
            <a:ext cx="457200" cy="45720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P1</a:t>
            </a:r>
          </a:p>
        </p:txBody>
      </p:sp>
      <p:sp>
        <p:nvSpPr>
          <p:cNvPr id="113" name="TextBox 112"/>
          <p:cNvSpPr txBox="1"/>
          <p:nvPr/>
        </p:nvSpPr>
        <p:spPr>
          <a:xfrm>
            <a:off x="6766560" y="3355848"/>
            <a:ext cx="2926080" cy="365760"/>
          </a:xfrm>
          <a:prstGeom prst="rect">
            <a:avLst/>
          </a:prstGeom>
          <a:noFill/>
        </p:spPr>
        <p:txBody>
          <a:bodyPr wrap="square" lIns="0" rIns="0" tIns="0" bIns="0" anchor="t">
            <a:spAutoFit/>
          </a:bodyPr>
          <a:lstStyle/>
          <a:p>
            <a:pPr algn="l">
              <a:spcAft>
                <a:spcPts val="600"/>
              </a:spcAft>
            </a:pPr>
            <a:r>
              <a:rPr sz="1600" b="1" i="0">
                <a:solidFill>
                  <a:srgbClr val="14142B"/>
                </a:solidFill>
                <a:latin typeface="Calibri"/>
              </a:rPr>
              <a:t>Retrieval across versions</a:t>
            </a:r>
          </a:p>
        </p:txBody>
      </p:sp>
      <p:sp>
        <p:nvSpPr>
          <p:cNvPr id="114" name="TextBox 113"/>
          <p:cNvSpPr txBox="1"/>
          <p:nvPr/>
        </p:nvSpPr>
        <p:spPr>
          <a:xfrm>
            <a:off x="6766560" y="3758184"/>
            <a:ext cx="2651760" cy="685800"/>
          </a:xfrm>
          <a:prstGeom prst="rect">
            <a:avLst/>
          </a:prstGeom>
          <a:noFill/>
        </p:spPr>
        <p:txBody>
          <a:bodyPr wrap="square" lIns="0" rIns="0" tIns="0" bIns="0" anchor="t">
            <a:spAutoFit/>
          </a:bodyPr>
          <a:lstStyle/>
          <a:p>
            <a:pPr algn="l">
              <a:spcAft>
                <a:spcPts val="600"/>
              </a:spcAft>
            </a:pPr>
            <a:r>
              <a:rPr sz="1300" b="0" i="0">
                <a:solidFill>
                  <a:srgbClr val="55556E"/>
                </a:solidFill>
                <a:latin typeface="Calibri"/>
              </a:rPr>
              <a:t>Index any commit, rebuild only what changed</a:t>
            </a:r>
          </a:p>
        </p:txBody>
      </p:sp>
      <p:sp>
        <p:nvSpPr>
          <p:cNvPr id="115" name="TextBox 114"/>
          <p:cNvSpPr txBox="1"/>
          <p:nvPr/>
        </p:nvSpPr>
        <p:spPr>
          <a:xfrm>
            <a:off x="9326880" y="3337560"/>
            <a:ext cx="2103120" cy="1005840"/>
          </a:xfrm>
          <a:prstGeom prst="rect">
            <a:avLst/>
          </a:prstGeom>
          <a:noFill/>
        </p:spPr>
        <p:txBody>
          <a:bodyPr wrap="square" lIns="0" rIns="0" tIns="0" bIns="0" anchor="ctr">
            <a:spAutoFit/>
          </a:bodyPr>
          <a:lstStyle/>
          <a:p>
            <a:pPr algn="r">
              <a:spcAft>
                <a:spcPts val="600"/>
              </a:spcAft>
            </a:pPr>
            <a:r>
              <a:rPr sz="1700" b="1" i="0">
                <a:solidFill>
                  <a:srgbClr val="B45309"/>
                </a:solidFill>
                <a:latin typeface="Calibri"/>
              </a:rPr>
              <a:t>45× faster rebuild</a:t>
            </a:r>
          </a:p>
        </p:txBody>
      </p:sp>
      <p:sp>
        <p:nvSpPr>
          <p:cNvPr id="116" name="Rounded Rectangle 115"/>
          <p:cNvSpPr/>
          <p:nvPr/>
        </p:nvSpPr>
        <p:spPr>
          <a:xfrm>
            <a:off x="5897880" y="4709160"/>
            <a:ext cx="5715000" cy="1371600"/>
          </a:xfrm>
          <a:prstGeom prst="roundRect">
            <a:avLst>
              <a:gd name="adj" fmla="val 6000"/>
            </a:avLst>
          </a:prstGeom>
          <a:solidFill>
            <a:srgbClr val="FFFFFF"/>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Oval 116"/>
          <p:cNvSpPr/>
          <p:nvPr/>
        </p:nvSpPr>
        <p:spPr>
          <a:xfrm>
            <a:off x="6126480" y="4965192"/>
            <a:ext cx="457200" cy="457200"/>
          </a:xfrm>
          <a:prstGeom prst="ellipse">
            <a:avLst/>
          </a:prstGeom>
          <a:solidFill>
            <a:srgbClr val="0E8A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B</a:t>
            </a:r>
          </a:p>
        </p:txBody>
      </p:sp>
      <p:sp>
        <p:nvSpPr>
          <p:cNvPr id="118" name="TextBox 117"/>
          <p:cNvSpPr txBox="1"/>
          <p:nvPr/>
        </p:nvSpPr>
        <p:spPr>
          <a:xfrm>
            <a:off x="6766560" y="4910328"/>
            <a:ext cx="2926080" cy="365760"/>
          </a:xfrm>
          <a:prstGeom prst="rect">
            <a:avLst/>
          </a:prstGeom>
          <a:noFill/>
        </p:spPr>
        <p:txBody>
          <a:bodyPr wrap="square" lIns="0" rIns="0" tIns="0" bIns="0" anchor="t">
            <a:spAutoFit/>
          </a:bodyPr>
          <a:lstStyle/>
          <a:p>
            <a:pPr algn="l">
              <a:spcAft>
                <a:spcPts val="600"/>
              </a:spcAft>
            </a:pPr>
            <a:r>
              <a:rPr sz="1600" b="1" i="0">
                <a:solidFill>
                  <a:srgbClr val="14142B"/>
                </a:solidFill>
                <a:latin typeface="Calibri"/>
              </a:rPr>
              <a:t>Evolutionary retrieval</a:t>
            </a:r>
          </a:p>
        </p:txBody>
      </p:sp>
      <p:sp>
        <p:nvSpPr>
          <p:cNvPr id="119" name="TextBox 118"/>
          <p:cNvSpPr txBox="1"/>
          <p:nvPr/>
        </p:nvSpPr>
        <p:spPr>
          <a:xfrm>
            <a:off x="6766560" y="5312664"/>
            <a:ext cx="2651760" cy="685800"/>
          </a:xfrm>
          <a:prstGeom prst="rect">
            <a:avLst/>
          </a:prstGeom>
          <a:noFill/>
        </p:spPr>
        <p:txBody>
          <a:bodyPr wrap="square" lIns="0" rIns="0" tIns="0" bIns="0" anchor="t">
            <a:spAutoFit/>
          </a:bodyPr>
          <a:lstStyle/>
          <a:p>
            <a:pPr algn="l">
              <a:spcAft>
                <a:spcPts val="600"/>
              </a:spcAft>
            </a:pPr>
            <a:r>
              <a:rPr sz="1300" b="0" i="0">
                <a:solidFill>
                  <a:srgbClr val="55556E"/>
                </a:solidFill>
                <a:latin typeface="Calibri"/>
              </a:rPr>
              <a:t>Search every version at once, no duplicates</a:t>
            </a:r>
          </a:p>
        </p:txBody>
      </p:sp>
      <p:sp>
        <p:nvSpPr>
          <p:cNvPr id="120" name="TextBox 119"/>
          <p:cNvSpPr txBox="1"/>
          <p:nvPr/>
        </p:nvSpPr>
        <p:spPr>
          <a:xfrm>
            <a:off x="9326880" y="4892040"/>
            <a:ext cx="2103120" cy="1005840"/>
          </a:xfrm>
          <a:prstGeom prst="rect">
            <a:avLst/>
          </a:prstGeom>
          <a:noFill/>
        </p:spPr>
        <p:txBody>
          <a:bodyPr wrap="square" lIns="0" rIns="0" tIns="0" bIns="0" anchor="ctr">
            <a:spAutoFit/>
          </a:bodyPr>
          <a:lstStyle/>
          <a:p>
            <a:pPr algn="r">
              <a:spcAft>
                <a:spcPts val="600"/>
              </a:spcAft>
            </a:pPr>
            <a:r>
              <a:rPr sz="1700" b="1" i="0">
                <a:solidFill>
                  <a:srgbClr val="0E8A62"/>
                </a:solidFill>
                <a:latin typeface="Calibri"/>
              </a:rPr>
              <a:t>4 → 10 unique</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548640" y="320040"/>
            <a:ext cx="11064240" cy="731520"/>
          </a:xfrm>
          <a:prstGeom prst="rect">
            <a:avLst/>
          </a:prstGeom>
          <a:noFill/>
          <a:ln>
            <a:noFill/>
          </a:ln>
        </p:spPr>
        <p:txBody>
          <a:bodyPr anchorCtr="0" anchor="ctr" bIns="45700" lIns="91425" spcFirstLastPara="1" rIns="91425" wrap="square" tIns="45700"/>
          <a:lstStyle/>
          <a:p>
            <a:pPr indent="0" lvl="0" marL="0" rtl="0" algn="l">
              <a:lnSpc>
                <a:spcPct val="90000"/>
              </a:lnSpc>
              <a:spcBef>
                <a:spcPts val="0"/>
              </a:spcBef>
              <a:spcAft>
                <a:spcPts val="0"/>
              </a:spcAft>
              <a:buClr>
                <a:srgbClr val="704EA6"/>
              </a:buClr>
              <a:buSzPts val="4400"/>
              <a:buFont typeface="Calibri"/>
              <a:buNone/>
            </a:pPr>
            <a:r>
              <a:rPr b="1" lang="en-US" sz="3000">
                <a:solidFill>
                  <a:srgbClr val="704EA6"/>
                </a:solidFill>
                <a:latin typeface="Calibri"/>
                <a:ea typeface="Calibri"/>
                <a:cs typeface="Calibri"/>
                <a:sym typeface="Calibri"/>
              </a:rPr>
              <a:t>Existing Solutions &amp; Gaps</a:t>
            </a:r>
            <a:endParaRPr/>
          </a:p>
        </p:txBody>
      </p:sp>
      <p:graphicFrame>
        <p:nvGraphicFramePr>
          <p:cNvPr id="108" name="Table 107"/>
          <p:cNvGraphicFramePr>
            <a:graphicFrameLocks noGrp="1"/>
          </p:cNvGraphicFramePr>
          <p:nvPr/>
        </p:nvGraphicFramePr>
        <p:xfrm>
          <a:off x="548640" y="1234440"/>
          <a:ext cx="11064240" cy="3950208"/>
        </p:xfrm>
        <a:graphic>
          <a:graphicData uri="http://schemas.openxmlformats.org/drawingml/2006/table">
            <a:tbl>
              <a:tblPr firstRow="0" bandRow="0"/>
              <a:tblGrid>
                <a:gridCol w="3017520"/>
                <a:gridCol w="3200400"/>
                <a:gridCol w="4846320"/>
              </a:tblGrid>
              <a:tr h="658368">
                <a:tc>
                  <a:txBody>
                    <a:bodyPr wrap="square"/>
                    <a:lstStyle/>
                    <a:p>
                      <a:r>
                        <a:rPr sz="1300" b="1">
                          <a:solidFill>
                            <a:srgbClr val="FFFFFF"/>
                          </a:solidFill>
                          <a:latin typeface="Calibri"/>
                        </a:rPr>
                        <a:t>What people use today</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1">
                          <a:solidFill>
                            <a:srgbClr val="FFFFFF"/>
                          </a:solidFill>
                          <a:latin typeface="Calibri"/>
                        </a:rPr>
                        <a:t>How it works</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1">
                          <a:solidFill>
                            <a:srgbClr val="FFFFFF"/>
                          </a:solidFill>
                          <a:latin typeface="Calibri"/>
                        </a:rPr>
                        <a:t>Where it falls short</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r>
              <a:tr h="658368">
                <a:tc>
                  <a:txBody>
                    <a:bodyPr wrap="square"/>
                    <a:lstStyle/>
                    <a:p>
                      <a:r>
                        <a:rPr sz="1300" b="0">
                          <a:solidFill>
                            <a:srgbClr val="14142B"/>
                          </a:solidFill>
                          <a:latin typeface="Calibri"/>
                        </a:rPr>
                        <a:t>Keyword search (BM25, grep, IDE search)</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0">
                          <a:solidFill>
                            <a:srgbClr val="14142B"/>
                          </a:solidFill>
                          <a:latin typeface="Calibri"/>
                        </a:rPr>
                        <a:t>Matches words in the query to words in the code</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0">
                          <a:solidFill>
                            <a:srgbClr val="14142B"/>
                          </a:solidFill>
                          <a:latin typeface="Calibri"/>
                        </a:rPr>
                        <a:t>Code rarely uses the question's words. On APPS it scores NDCG@10 0.056</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r>
              <a:tr h="658368">
                <a:tc>
                  <a:txBody>
                    <a:bodyPr wrap="square"/>
                    <a:lstStyle/>
                    <a:p>
                      <a:r>
                        <a:rPr sz="1300" b="0">
                          <a:solidFill>
                            <a:srgbClr val="14142B"/>
                          </a:solidFill>
                          <a:latin typeface="Calibri"/>
                        </a:rPr>
                        <a:t>Off-the-shelf code embedding models</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0">
                          <a:solidFill>
                            <a:srgbClr val="14142B"/>
                          </a:solidFill>
                          <a:latin typeface="Calibri"/>
                        </a:rPr>
                        <a:t>Trained on docstring → function pairs</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0">
                          <a:solidFill>
                            <a:srgbClr val="14142B"/>
                          </a:solidFill>
                          <a:latin typeface="Calibri"/>
                        </a:rPr>
                        <a:t>Get lost in long problem statements. Base CodeRankEmbed: 0.237</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r>
              <a:tr h="658368">
                <a:tc>
                  <a:txBody>
                    <a:bodyPr wrap="square"/>
                    <a:lstStyle/>
                    <a:p>
                      <a:r>
                        <a:rPr sz="1300" b="0">
                          <a:solidFill>
                            <a:srgbClr val="14142B"/>
                          </a:solidFill>
                          <a:latin typeface="Calibri"/>
                        </a:rPr>
                        <a:t>Ask an LLM to rank the snippets</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0">
                          <a:solidFill>
                            <a:srgbClr val="14142B"/>
                          </a:solidFill>
                          <a:latin typeface="Calibri"/>
                        </a:rPr>
                        <a:t>Paste query + code into the prompt</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0">
                          <a:solidFill>
                            <a:srgbClr val="14142B"/>
                          </a:solidFill>
                          <a:latin typeface="Calibri"/>
                        </a:rPr>
                        <a:t>Thousands of snippets don't fit in the context window, and it's far too slow for a first step</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r>
              <a:tr h="658368">
                <a:tc>
                  <a:txBody>
                    <a:bodyPr wrap="square"/>
                    <a:lstStyle/>
                    <a:p>
                      <a:r>
                        <a:rPr sz="1300" b="0">
                          <a:solidFill>
                            <a:srgbClr val="14142B"/>
                          </a:solidFill>
                          <a:latin typeface="Calibri"/>
                        </a:rPr>
                        <a:t>Re-index the whole repo on every commit</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0">
                          <a:solidFill>
                            <a:srgbClr val="14142B"/>
                          </a:solidFill>
                          <a:latin typeface="Calibri"/>
                        </a:rPr>
                        <a:t>Embed everything again from scratch</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0">
                          <a:solidFill>
                            <a:srgbClr val="14142B"/>
                          </a:solidFill>
                          <a:latin typeface="Calibri"/>
                        </a:rPr>
                        <a:t>18.9 s to rebuild psf/requests even when only 3 files changed</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r>
              <a:tr h="658368">
                <a:tc>
                  <a:txBody>
                    <a:bodyPr wrap="square"/>
                    <a:lstStyle/>
                    <a:p>
                      <a:r>
                        <a:rPr sz="1300" b="0">
                          <a:solidFill>
                            <a:srgbClr val="14142B"/>
                          </a:solidFill>
                          <a:latin typeface="Calibri"/>
                        </a:rPr>
                        <a:t>Search all versions as one flat index</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0">
                          <a:solidFill>
                            <a:srgbClr val="14142B"/>
                          </a:solidFill>
                          <a:latin typeface="Calibri"/>
                        </a:rPr>
                        <a:t>Put every version in one index</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0">
                          <a:solidFill>
                            <a:srgbClr val="14142B"/>
                          </a:solidFill>
                          <a:latin typeface="Calibri"/>
                        </a:rPr>
                        <a:t>Top 10 fills up with copies of the same function (6 of 10 on average)</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r>
            </a:tbl>
          </a:graphicData>
        </a:graphic>
      </p:graphicFrame>
      <p:sp>
        <p:nvSpPr>
          <p:cNvPr id="109" name="Rounded Rectangle 108"/>
          <p:cNvSpPr/>
          <p:nvPr/>
        </p:nvSpPr>
        <p:spPr>
          <a:xfrm>
            <a:off x="548640" y="5440680"/>
            <a:ext cx="11064240" cy="731520"/>
          </a:xfrm>
          <a:prstGeom prst="roundRect">
            <a:avLst>
              <a:gd name="adj" fmla="val 6000"/>
            </a:avLst>
          </a:prstGeom>
          <a:solidFill>
            <a:srgbClr val="F4F0FD"/>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Box 109"/>
          <p:cNvSpPr txBox="1"/>
          <p:nvPr/>
        </p:nvSpPr>
        <p:spPr>
          <a:xfrm>
            <a:off x="777240" y="5513832"/>
            <a:ext cx="10607040" cy="594360"/>
          </a:xfrm>
          <a:prstGeom prst="rect">
            <a:avLst/>
          </a:prstGeom>
          <a:noFill/>
        </p:spPr>
        <p:txBody>
          <a:bodyPr wrap="square" lIns="0" rIns="0" tIns="0" bIns="0" anchor="ctr">
            <a:spAutoFit/>
          </a:bodyPr>
          <a:lstStyle/>
          <a:p>
            <a:pPr algn="l">
              <a:spcAft>
                <a:spcPts val="600"/>
              </a:spcAft>
            </a:pPr>
            <a:r>
              <a:rPr sz="1500" b="1" i="0">
                <a:solidFill>
                  <a:srgbClr val="6D28D9"/>
                </a:solidFill>
                <a:latin typeface="Calibri"/>
              </a:rPr>
              <a:t>The gap: </a:t>
            </a:r>
            <a:r>
              <a:rPr sz="1500" b="0" i="0">
                <a:solidFill>
                  <a:srgbClr val="14142B"/>
                </a:solidFill>
                <a:latin typeface="Calibri"/>
              </a:rPr>
              <a:t>nothing we found was accurate on long questions, cheap enough for CPU, and aware of code versions, all at the same time.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 name="Shape 112"/>
        <p:cNvGrpSpPr/>
        <p:nvPr/>
      </p:nvGrpSpPr>
      <p:grpSpPr>
        <a:xfrm>
          <a:off x="0" y="0"/>
          <a:ext cx="0" cy="0"/>
          <a:chOff x="0" y="0"/>
          <a:chExt cx="0" cy="0"/>
        </a:xfrm>
      </p:grpSpPr>
      <p:sp>
        <p:nvSpPr>
          <p:cNvPr id="113" name="Google Shape;113;p4"/>
          <p:cNvSpPr txBox="1"/>
          <p:nvPr>
            <p:ph type="title"/>
          </p:nvPr>
        </p:nvSpPr>
        <p:spPr>
          <a:xfrm>
            <a:off x="548640" y="320040"/>
            <a:ext cx="11064240" cy="731520"/>
          </a:xfrm>
          <a:prstGeom prst="rect">
            <a:avLst/>
          </a:prstGeom>
          <a:noFill/>
          <a:ln>
            <a:noFill/>
          </a:ln>
        </p:spPr>
        <p:txBody>
          <a:bodyPr anchorCtr="0" anchor="ctr" bIns="45700" lIns="91425" spcFirstLastPara="1" rIns="91425" wrap="square" tIns="45700"/>
          <a:lstStyle/>
          <a:p>
            <a:pPr indent="0" lvl="0" marL="0" rtl="0" algn="l">
              <a:lnSpc>
                <a:spcPct val="90000"/>
              </a:lnSpc>
              <a:spcBef>
                <a:spcPts val="0"/>
              </a:spcBef>
              <a:spcAft>
                <a:spcPts val="0"/>
              </a:spcAft>
              <a:buClr>
                <a:srgbClr val="704EA6"/>
              </a:buClr>
              <a:buSzPts val="4400"/>
              <a:buFont typeface="Calibri"/>
              <a:buNone/>
            </a:pPr>
            <a:r>
              <a:rPr b="1" lang="en-US" sz="3000">
                <a:solidFill>
                  <a:srgbClr val="704EA6"/>
                </a:solidFill>
                <a:latin typeface="Calibri"/>
                <a:ea typeface="Calibri"/>
                <a:cs typeface="Calibri"/>
                <a:sym typeface="Calibri"/>
              </a:rPr>
              <a:t>Our Solutions &amp; Architecture Diagram</a:t>
            </a:r>
            <a:endParaRPr/>
          </a:p>
        </p:txBody>
      </p:sp>
      <p:sp>
        <p:nvSpPr>
          <p:cNvPr id="114" name="TextBox 113"/>
          <p:cNvSpPr txBox="1"/>
          <p:nvPr/>
        </p:nvSpPr>
        <p:spPr>
          <a:xfrm>
            <a:off x="548640" y="1097280"/>
            <a:ext cx="10972800" cy="274320"/>
          </a:xfrm>
          <a:prstGeom prst="rect">
            <a:avLst/>
          </a:prstGeom>
          <a:noFill/>
        </p:spPr>
        <p:txBody>
          <a:bodyPr wrap="square" lIns="0" rIns="0" tIns="0" bIns="0" anchor="t">
            <a:spAutoFit/>
          </a:bodyPr>
          <a:lstStyle/>
          <a:p>
            <a:pPr algn="l">
              <a:spcAft>
                <a:spcPts val="600"/>
              </a:spcAft>
            </a:pPr>
            <a:r>
              <a:rPr sz="1200" b="1" i="0">
                <a:solidFill>
                  <a:srgbClr val="0E8A62"/>
                </a:solidFill>
                <a:latin typeface="Calibri"/>
              </a:rPr>
              <a:t>AT QUERY TIME  ·  CPU</a:t>
            </a:r>
          </a:p>
        </p:txBody>
      </p:sp>
      <p:sp>
        <p:nvSpPr>
          <p:cNvPr id="115" name="Rounded Rectangle 114"/>
          <p:cNvSpPr/>
          <p:nvPr/>
        </p:nvSpPr>
        <p:spPr>
          <a:xfrm>
            <a:off x="548640" y="1417320"/>
            <a:ext cx="1389888" cy="1600200"/>
          </a:xfrm>
          <a:prstGeom prst="roundRect">
            <a:avLst>
              <a:gd name="adj" fmla="val 6000"/>
            </a:avLst>
          </a:prstGeom>
          <a:solidFill>
            <a:srgbClr val="FFFFFF"/>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Box 115"/>
          <p:cNvSpPr txBox="1"/>
          <p:nvPr/>
        </p:nvSpPr>
        <p:spPr>
          <a:xfrm>
            <a:off x="658368" y="1508760"/>
            <a:ext cx="1170432" cy="320040"/>
          </a:xfrm>
          <a:prstGeom prst="rect">
            <a:avLst/>
          </a:prstGeom>
          <a:noFill/>
        </p:spPr>
        <p:txBody>
          <a:bodyPr wrap="square" lIns="0" rIns="0" tIns="0" bIns="0" anchor="t">
            <a:spAutoFit/>
          </a:bodyPr>
          <a:lstStyle/>
          <a:p>
            <a:pPr algn="l">
              <a:spcAft>
                <a:spcPts val="600"/>
              </a:spcAft>
            </a:pPr>
            <a:r>
              <a:rPr sz="1400" b="1" i="0">
                <a:solidFill>
                  <a:srgbClr val="14142B"/>
                </a:solidFill>
                <a:latin typeface="Calibri"/>
              </a:rPr>
              <a:t>Query</a:t>
            </a:r>
          </a:p>
        </p:txBody>
      </p:sp>
      <p:sp>
        <p:nvSpPr>
          <p:cNvPr id="117" name="TextBox 116"/>
          <p:cNvSpPr txBox="1"/>
          <p:nvPr/>
        </p:nvSpPr>
        <p:spPr>
          <a:xfrm>
            <a:off x="658368" y="1847088"/>
            <a:ext cx="1170432" cy="1097280"/>
          </a:xfrm>
          <a:prstGeom prst="rect">
            <a:avLst/>
          </a:prstGeom>
          <a:noFill/>
        </p:spPr>
        <p:txBody>
          <a:bodyPr wrap="square" lIns="0" rIns="0" tIns="0" bIns="0" anchor="t">
            <a:spAutoFit/>
          </a:bodyPr>
          <a:lstStyle/>
          <a:p>
            <a:pPr algn="l">
              <a:spcAft>
                <a:spcPts val="600"/>
              </a:spcAft>
            </a:pPr>
            <a:r>
              <a:rPr sz="1150" b="0" i="0">
                <a:solidFill>
                  <a:srgbClr val="55556E"/>
                </a:solidFill>
                <a:latin typeface="Calibri"/>
              </a:rPr>
              <a:t>Plain English, any length</a:t>
            </a:r>
          </a:p>
        </p:txBody>
      </p:sp>
      <p:cxnSp>
        <p:nvCxnSpPr>
          <p:cNvPr id="118" name="Connector 117"/>
          <p:cNvCxnSpPr/>
          <p:nvPr/>
        </p:nvCxnSpPr>
        <p:spPr>
          <a:xfrm>
            <a:off x="1956816" y="2212848"/>
            <a:ext cx="187452" cy="0"/>
          </a:xfrm>
          <a:prstGeom prst="line">
            <a:avLst/>
          </a:prstGeom>
          <a:ln w="22225">
            <a:solidFill>
              <a:srgbClr val="6D28D9"/>
            </a:solidFill>
            <a:tailEnd type="triangle"/>
          </a:ln>
        </p:spPr>
        <p:style>
          <a:lnRef idx="2">
            <a:schemeClr val="accent1"/>
          </a:lnRef>
          <a:fillRef idx="0">
            <a:schemeClr val="accent1"/>
          </a:fillRef>
          <a:effectRef idx="1">
            <a:schemeClr val="accent1"/>
          </a:effectRef>
          <a:fontRef idx="minor">
            <a:schemeClr val="tx1"/>
          </a:fontRef>
        </p:style>
      </p:cxnSp>
      <p:sp>
        <p:nvSpPr>
          <p:cNvPr id="119" name="Rounded Rectangle 118"/>
          <p:cNvSpPr/>
          <p:nvPr/>
        </p:nvSpPr>
        <p:spPr>
          <a:xfrm>
            <a:off x="2162556" y="1417320"/>
            <a:ext cx="1389888" cy="1600200"/>
          </a:xfrm>
          <a:prstGeom prst="roundRect">
            <a:avLst>
              <a:gd name="adj" fmla="val 6000"/>
            </a:avLst>
          </a:prstGeom>
          <a:solidFill>
            <a:srgbClr val="F4F0FD"/>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Box 119"/>
          <p:cNvSpPr txBox="1"/>
          <p:nvPr/>
        </p:nvSpPr>
        <p:spPr>
          <a:xfrm>
            <a:off x="2272284" y="1508760"/>
            <a:ext cx="1170432" cy="320040"/>
          </a:xfrm>
          <a:prstGeom prst="rect">
            <a:avLst/>
          </a:prstGeom>
          <a:noFill/>
        </p:spPr>
        <p:txBody>
          <a:bodyPr wrap="square" lIns="0" rIns="0" tIns="0" bIns="0" anchor="t">
            <a:spAutoFit/>
          </a:bodyPr>
          <a:lstStyle/>
          <a:p>
            <a:pPr algn="l">
              <a:spcAft>
                <a:spcPts val="600"/>
              </a:spcAft>
            </a:pPr>
            <a:r>
              <a:rPr sz="1400" b="1" i="0">
                <a:solidFill>
                  <a:srgbClr val="6D28D9"/>
                </a:solidFill>
                <a:latin typeface="Calibri"/>
              </a:rPr>
              <a:t>Clean</a:t>
            </a:r>
          </a:p>
        </p:txBody>
      </p:sp>
      <p:sp>
        <p:nvSpPr>
          <p:cNvPr id="121" name="TextBox 120"/>
          <p:cNvSpPr txBox="1"/>
          <p:nvPr/>
        </p:nvSpPr>
        <p:spPr>
          <a:xfrm>
            <a:off x="2272284" y="1847088"/>
            <a:ext cx="1170432" cy="1097280"/>
          </a:xfrm>
          <a:prstGeom prst="rect">
            <a:avLst/>
          </a:prstGeom>
          <a:noFill/>
        </p:spPr>
        <p:txBody>
          <a:bodyPr wrap="square" lIns="0" rIns="0" tIns="0" bIns="0" anchor="t">
            <a:spAutoFit/>
          </a:bodyPr>
          <a:lstStyle/>
          <a:p>
            <a:pPr algn="l">
              <a:spcAft>
                <a:spcPts val="600"/>
              </a:spcAft>
            </a:pPr>
            <a:r>
              <a:rPr sz="1150" b="0" i="0">
                <a:solidFill>
                  <a:srgbClr val="55556E"/>
                </a:solidFill>
                <a:latin typeface="Calibri"/>
              </a:rPr>
              <a:t>Keep description + I/O, drop samples &amp; constraints</a:t>
            </a:r>
          </a:p>
        </p:txBody>
      </p:sp>
      <p:cxnSp>
        <p:nvCxnSpPr>
          <p:cNvPr id="122" name="Connector 121"/>
          <p:cNvCxnSpPr/>
          <p:nvPr/>
        </p:nvCxnSpPr>
        <p:spPr>
          <a:xfrm>
            <a:off x="3570732" y="2212848"/>
            <a:ext cx="187452" cy="0"/>
          </a:xfrm>
          <a:prstGeom prst="line">
            <a:avLst/>
          </a:prstGeom>
          <a:ln w="22225">
            <a:solidFill>
              <a:srgbClr val="6D28D9"/>
            </a:solidFill>
            <a:tailEnd type="triangle"/>
          </a:ln>
        </p:spPr>
        <p:style>
          <a:lnRef idx="2">
            <a:schemeClr val="accent1"/>
          </a:lnRef>
          <a:fillRef idx="0">
            <a:schemeClr val="accent1"/>
          </a:fillRef>
          <a:effectRef idx="1">
            <a:schemeClr val="accent1"/>
          </a:effectRef>
          <a:fontRef idx="minor">
            <a:schemeClr val="tx1"/>
          </a:fontRef>
        </p:style>
      </p:cxnSp>
      <p:sp>
        <p:nvSpPr>
          <p:cNvPr id="123" name="Rounded Rectangle 122"/>
          <p:cNvSpPr/>
          <p:nvPr/>
        </p:nvSpPr>
        <p:spPr>
          <a:xfrm>
            <a:off x="3776472" y="1417320"/>
            <a:ext cx="1389888" cy="1600200"/>
          </a:xfrm>
          <a:prstGeom prst="roundRect">
            <a:avLst>
              <a:gd name="adj" fmla="val 6000"/>
            </a:avLst>
          </a:prstGeom>
          <a:solidFill>
            <a:srgbClr val="FFFFFF"/>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3886200" y="1508760"/>
            <a:ext cx="1170432" cy="320040"/>
          </a:xfrm>
          <a:prstGeom prst="rect">
            <a:avLst/>
          </a:prstGeom>
          <a:noFill/>
        </p:spPr>
        <p:txBody>
          <a:bodyPr wrap="square" lIns="0" rIns="0" tIns="0" bIns="0" anchor="t">
            <a:spAutoFit/>
          </a:bodyPr>
          <a:lstStyle/>
          <a:p>
            <a:pPr algn="l">
              <a:spcAft>
                <a:spcPts val="600"/>
              </a:spcAft>
            </a:pPr>
            <a:r>
              <a:rPr sz="1400" b="1" i="0">
                <a:solidFill>
                  <a:srgbClr val="14142B"/>
                </a:solidFill>
                <a:latin typeface="Calibri"/>
              </a:rPr>
              <a:t>Prefix</a:t>
            </a:r>
          </a:p>
        </p:txBody>
      </p:sp>
      <p:sp>
        <p:nvSpPr>
          <p:cNvPr id="125" name="TextBox 124"/>
          <p:cNvSpPr txBox="1"/>
          <p:nvPr/>
        </p:nvSpPr>
        <p:spPr>
          <a:xfrm>
            <a:off x="3886200" y="1847088"/>
            <a:ext cx="1170432" cy="1097280"/>
          </a:xfrm>
          <a:prstGeom prst="rect">
            <a:avLst/>
          </a:prstGeom>
          <a:noFill/>
        </p:spPr>
        <p:txBody>
          <a:bodyPr wrap="square" lIns="0" rIns="0" tIns="0" bIns="0" anchor="t">
            <a:spAutoFit/>
          </a:bodyPr>
          <a:lstStyle/>
          <a:p>
            <a:pPr algn="l">
              <a:spcAft>
                <a:spcPts val="600"/>
              </a:spcAft>
            </a:pPr>
            <a:r>
              <a:rPr sz="1150" b="0" i="0">
                <a:solidFill>
                  <a:srgbClr val="55556E"/>
                </a:solidFill>
                <a:latin typeface="Calibri"/>
              </a:rPr>
              <a:t>Add the model's query instruction</a:t>
            </a:r>
          </a:p>
        </p:txBody>
      </p:sp>
      <p:cxnSp>
        <p:nvCxnSpPr>
          <p:cNvPr id="126" name="Connector 125"/>
          <p:cNvCxnSpPr/>
          <p:nvPr/>
        </p:nvCxnSpPr>
        <p:spPr>
          <a:xfrm>
            <a:off x="5184648" y="2212848"/>
            <a:ext cx="187452" cy="0"/>
          </a:xfrm>
          <a:prstGeom prst="line">
            <a:avLst/>
          </a:prstGeom>
          <a:ln w="22225">
            <a:solidFill>
              <a:srgbClr val="6D28D9"/>
            </a:solidFill>
            <a:tailEnd type="triangle"/>
          </a:ln>
        </p:spPr>
        <p:style>
          <a:lnRef idx="2">
            <a:schemeClr val="accent1"/>
          </a:lnRef>
          <a:fillRef idx="0">
            <a:schemeClr val="accent1"/>
          </a:fillRef>
          <a:effectRef idx="1">
            <a:schemeClr val="accent1"/>
          </a:effectRef>
          <a:fontRef idx="minor">
            <a:schemeClr val="tx1"/>
          </a:fontRef>
        </p:style>
      </p:cxnSp>
      <p:sp>
        <p:nvSpPr>
          <p:cNvPr id="127" name="Rounded Rectangle 126"/>
          <p:cNvSpPr/>
          <p:nvPr/>
        </p:nvSpPr>
        <p:spPr>
          <a:xfrm>
            <a:off x="5390388" y="1417320"/>
            <a:ext cx="1389888" cy="1600200"/>
          </a:xfrm>
          <a:prstGeom prst="roundRect">
            <a:avLst>
              <a:gd name="adj" fmla="val 6000"/>
            </a:avLst>
          </a:prstGeom>
          <a:solidFill>
            <a:srgbClr val="F4F0FD"/>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Box 127"/>
          <p:cNvSpPr txBox="1"/>
          <p:nvPr/>
        </p:nvSpPr>
        <p:spPr>
          <a:xfrm>
            <a:off x="5500116" y="1508760"/>
            <a:ext cx="1170432" cy="320040"/>
          </a:xfrm>
          <a:prstGeom prst="rect">
            <a:avLst/>
          </a:prstGeom>
          <a:noFill/>
        </p:spPr>
        <p:txBody>
          <a:bodyPr wrap="square" lIns="0" rIns="0" tIns="0" bIns="0" anchor="t">
            <a:spAutoFit/>
          </a:bodyPr>
          <a:lstStyle/>
          <a:p>
            <a:pPr algn="l">
              <a:spcAft>
                <a:spcPts val="600"/>
              </a:spcAft>
            </a:pPr>
            <a:r>
              <a:rPr sz="1400" b="1" i="0">
                <a:solidFill>
                  <a:srgbClr val="6D28D9"/>
                </a:solidFill>
                <a:latin typeface="Calibri"/>
              </a:rPr>
              <a:t>Encode</a:t>
            </a:r>
          </a:p>
        </p:txBody>
      </p:sp>
      <p:sp>
        <p:nvSpPr>
          <p:cNvPr id="129" name="TextBox 128"/>
          <p:cNvSpPr txBox="1"/>
          <p:nvPr/>
        </p:nvSpPr>
        <p:spPr>
          <a:xfrm>
            <a:off x="5500116" y="1847088"/>
            <a:ext cx="1170432" cy="1097280"/>
          </a:xfrm>
          <a:prstGeom prst="rect">
            <a:avLst/>
          </a:prstGeom>
          <a:noFill/>
        </p:spPr>
        <p:txBody>
          <a:bodyPr wrap="square" lIns="0" rIns="0" tIns="0" bIns="0" anchor="t">
            <a:spAutoFit/>
          </a:bodyPr>
          <a:lstStyle/>
          <a:p>
            <a:pPr algn="l">
              <a:spcAft>
                <a:spcPts val="600"/>
              </a:spcAft>
            </a:pPr>
            <a:r>
              <a:rPr sz="1150" b="0" i="0">
                <a:solidFill>
                  <a:srgbClr val="55556E"/>
                </a:solidFill>
                <a:latin typeface="Calibri"/>
              </a:rPr>
              <a:t>Our fine-tuned CodeRankEmbed (137M)</a:t>
            </a:r>
          </a:p>
        </p:txBody>
      </p:sp>
      <p:cxnSp>
        <p:nvCxnSpPr>
          <p:cNvPr id="130" name="Connector 129"/>
          <p:cNvCxnSpPr/>
          <p:nvPr/>
        </p:nvCxnSpPr>
        <p:spPr>
          <a:xfrm>
            <a:off x="6798563" y="2212848"/>
            <a:ext cx="187453" cy="0"/>
          </a:xfrm>
          <a:prstGeom prst="line">
            <a:avLst/>
          </a:prstGeom>
          <a:ln w="22225">
            <a:solidFill>
              <a:srgbClr val="6D28D9"/>
            </a:solidFill>
            <a:tailEnd type="triangle"/>
          </a:ln>
        </p:spPr>
        <p:style>
          <a:lnRef idx="2">
            <a:schemeClr val="accent1"/>
          </a:lnRef>
          <a:fillRef idx="0">
            <a:schemeClr val="accent1"/>
          </a:fillRef>
          <a:effectRef idx="1">
            <a:schemeClr val="accent1"/>
          </a:effectRef>
          <a:fontRef idx="minor">
            <a:schemeClr val="tx1"/>
          </a:fontRef>
        </p:style>
      </p:cxnSp>
      <p:sp>
        <p:nvSpPr>
          <p:cNvPr id="131" name="Rounded Rectangle 130"/>
          <p:cNvSpPr/>
          <p:nvPr/>
        </p:nvSpPr>
        <p:spPr>
          <a:xfrm>
            <a:off x="7004304" y="1417320"/>
            <a:ext cx="1389888" cy="1600200"/>
          </a:xfrm>
          <a:prstGeom prst="roundRect">
            <a:avLst>
              <a:gd name="adj" fmla="val 6000"/>
            </a:avLst>
          </a:prstGeom>
          <a:solidFill>
            <a:srgbClr val="FFFFFF"/>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Box 131"/>
          <p:cNvSpPr txBox="1"/>
          <p:nvPr/>
        </p:nvSpPr>
        <p:spPr>
          <a:xfrm>
            <a:off x="7114032" y="1508760"/>
            <a:ext cx="1170432" cy="320040"/>
          </a:xfrm>
          <a:prstGeom prst="rect">
            <a:avLst/>
          </a:prstGeom>
          <a:noFill/>
        </p:spPr>
        <p:txBody>
          <a:bodyPr wrap="square" lIns="0" rIns="0" tIns="0" bIns="0" anchor="t">
            <a:spAutoFit/>
          </a:bodyPr>
          <a:lstStyle/>
          <a:p>
            <a:pPr algn="l">
              <a:spcAft>
                <a:spcPts val="600"/>
              </a:spcAft>
            </a:pPr>
            <a:r>
              <a:rPr sz="1400" b="1" i="0">
                <a:solidFill>
                  <a:srgbClr val="14142B"/>
                </a:solidFill>
                <a:latin typeface="Calibri"/>
              </a:rPr>
              <a:t>Search</a:t>
            </a:r>
          </a:p>
        </p:txBody>
      </p:sp>
      <p:sp>
        <p:nvSpPr>
          <p:cNvPr id="133" name="TextBox 132"/>
          <p:cNvSpPr txBox="1"/>
          <p:nvPr/>
        </p:nvSpPr>
        <p:spPr>
          <a:xfrm>
            <a:off x="7114032" y="1847088"/>
            <a:ext cx="1170432" cy="1097280"/>
          </a:xfrm>
          <a:prstGeom prst="rect">
            <a:avLst/>
          </a:prstGeom>
          <a:noFill/>
        </p:spPr>
        <p:txBody>
          <a:bodyPr wrap="square" lIns="0" rIns="0" tIns="0" bIns="0" anchor="t">
            <a:spAutoFit/>
          </a:bodyPr>
          <a:lstStyle/>
          <a:p>
            <a:pPr algn="l">
              <a:spcAft>
                <a:spcPts val="600"/>
              </a:spcAft>
            </a:pPr>
            <a:r>
              <a:rPr sz="1150" b="0" i="0">
                <a:solidFill>
                  <a:srgbClr val="55556E"/>
                </a:solidFill>
                <a:latin typeface="Calibri"/>
              </a:rPr>
              <a:t>Cosine top-k over stored vectors</a:t>
            </a:r>
          </a:p>
        </p:txBody>
      </p:sp>
      <p:cxnSp>
        <p:nvCxnSpPr>
          <p:cNvPr id="134" name="Connector 133"/>
          <p:cNvCxnSpPr/>
          <p:nvPr/>
        </p:nvCxnSpPr>
        <p:spPr>
          <a:xfrm>
            <a:off x="8412480" y="2212848"/>
            <a:ext cx="187452" cy="0"/>
          </a:xfrm>
          <a:prstGeom prst="line">
            <a:avLst/>
          </a:prstGeom>
          <a:ln w="22225">
            <a:solidFill>
              <a:srgbClr val="6D28D9"/>
            </a:solidFill>
            <a:tailEnd type="triangle"/>
          </a:ln>
        </p:spPr>
        <p:style>
          <a:lnRef idx="2">
            <a:schemeClr val="accent1"/>
          </a:lnRef>
          <a:fillRef idx="0">
            <a:schemeClr val="accent1"/>
          </a:fillRef>
          <a:effectRef idx="1">
            <a:schemeClr val="accent1"/>
          </a:effectRef>
          <a:fontRef idx="minor">
            <a:schemeClr val="tx1"/>
          </a:fontRef>
        </p:style>
      </p:cxnSp>
      <p:sp>
        <p:nvSpPr>
          <p:cNvPr id="135" name="Rounded Rectangle 134"/>
          <p:cNvSpPr/>
          <p:nvPr/>
        </p:nvSpPr>
        <p:spPr>
          <a:xfrm>
            <a:off x="8618220" y="1417320"/>
            <a:ext cx="1389888" cy="1600200"/>
          </a:xfrm>
          <a:prstGeom prst="roundRect">
            <a:avLst>
              <a:gd name="adj" fmla="val 6000"/>
            </a:avLst>
          </a:prstGeom>
          <a:solidFill>
            <a:srgbClr val="F4F0FD"/>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Box 135"/>
          <p:cNvSpPr txBox="1"/>
          <p:nvPr/>
        </p:nvSpPr>
        <p:spPr>
          <a:xfrm>
            <a:off x="8727948" y="1508760"/>
            <a:ext cx="1170432" cy="320040"/>
          </a:xfrm>
          <a:prstGeom prst="rect">
            <a:avLst/>
          </a:prstGeom>
          <a:noFill/>
        </p:spPr>
        <p:txBody>
          <a:bodyPr wrap="square" lIns="0" rIns="0" tIns="0" bIns="0" anchor="t">
            <a:spAutoFit/>
          </a:bodyPr>
          <a:lstStyle/>
          <a:p>
            <a:pPr algn="l">
              <a:spcAft>
                <a:spcPts val="600"/>
              </a:spcAft>
            </a:pPr>
            <a:r>
              <a:rPr sz="1400" b="1" i="0">
                <a:solidFill>
                  <a:srgbClr val="6D28D9"/>
                </a:solidFill>
                <a:latin typeface="Calibri"/>
              </a:rPr>
              <a:t>Group</a:t>
            </a:r>
          </a:p>
        </p:txBody>
      </p:sp>
      <p:sp>
        <p:nvSpPr>
          <p:cNvPr id="137" name="TextBox 136"/>
          <p:cNvSpPr txBox="1"/>
          <p:nvPr/>
        </p:nvSpPr>
        <p:spPr>
          <a:xfrm>
            <a:off x="8727948" y="1847088"/>
            <a:ext cx="1170432" cy="1097280"/>
          </a:xfrm>
          <a:prstGeom prst="rect">
            <a:avLst/>
          </a:prstGeom>
          <a:noFill/>
        </p:spPr>
        <p:txBody>
          <a:bodyPr wrap="square" lIns="0" rIns="0" tIns="0" bIns="0" anchor="t">
            <a:spAutoFit/>
          </a:bodyPr>
          <a:lstStyle/>
          <a:p>
            <a:pPr algn="l">
              <a:spcAft>
                <a:spcPts val="600"/>
              </a:spcAft>
            </a:pPr>
            <a:r>
              <a:rPr sz="1150" b="0" i="0">
                <a:solidFill>
                  <a:srgbClr val="55556E"/>
                </a:solidFill>
                <a:latin typeface="Calibri"/>
              </a:rPr>
              <a:t>Merge copies of one function across versions</a:t>
            </a:r>
          </a:p>
        </p:txBody>
      </p:sp>
      <p:cxnSp>
        <p:nvCxnSpPr>
          <p:cNvPr id="138" name="Connector 137"/>
          <p:cNvCxnSpPr/>
          <p:nvPr/>
        </p:nvCxnSpPr>
        <p:spPr>
          <a:xfrm>
            <a:off x="10026396" y="2212848"/>
            <a:ext cx="187452" cy="0"/>
          </a:xfrm>
          <a:prstGeom prst="line">
            <a:avLst/>
          </a:prstGeom>
          <a:ln w="22225">
            <a:solidFill>
              <a:srgbClr val="6D28D9"/>
            </a:solidFill>
            <a:tailEnd type="triangle"/>
          </a:ln>
        </p:spPr>
        <p:style>
          <a:lnRef idx="2">
            <a:schemeClr val="accent1"/>
          </a:lnRef>
          <a:fillRef idx="0">
            <a:schemeClr val="accent1"/>
          </a:fillRef>
          <a:effectRef idx="1">
            <a:schemeClr val="accent1"/>
          </a:effectRef>
          <a:fontRef idx="minor">
            <a:schemeClr val="tx1"/>
          </a:fontRef>
        </p:style>
      </p:cxnSp>
      <p:sp>
        <p:nvSpPr>
          <p:cNvPr id="139" name="Rounded Rectangle 138"/>
          <p:cNvSpPr/>
          <p:nvPr/>
        </p:nvSpPr>
        <p:spPr>
          <a:xfrm>
            <a:off x="10232136" y="1417320"/>
            <a:ext cx="1389888" cy="1600200"/>
          </a:xfrm>
          <a:prstGeom prst="roundRect">
            <a:avLst>
              <a:gd name="adj" fmla="val 6000"/>
            </a:avLst>
          </a:prstGeom>
          <a:solidFill>
            <a:srgbClr val="FFFFFF"/>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TextBox 139"/>
          <p:cNvSpPr txBox="1"/>
          <p:nvPr/>
        </p:nvSpPr>
        <p:spPr>
          <a:xfrm>
            <a:off x="10341863" y="1508760"/>
            <a:ext cx="1170432" cy="320040"/>
          </a:xfrm>
          <a:prstGeom prst="rect">
            <a:avLst/>
          </a:prstGeom>
          <a:noFill/>
        </p:spPr>
        <p:txBody>
          <a:bodyPr wrap="square" lIns="0" rIns="0" tIns="0" bIns="0" anchor="t">
            <a:spAutoFit/>
          </a:bodyPr>
          <a:lstStyle/>
          <a:p>
            <a:pPr algn="l">
              <a:spcAft>
                <a:spcPts val="600"/>
              </a:spcAft>
            </a:pPr>
            <a:r>
              <a:rPr sz="1400" b="1" i="0">
                <a:solidFill>
                  <a:srgbClr val="14142B"/>
                </a:solidFill>
                <a:latin typeface="Calibri"/>
              </a:rPr>
              <a:t>Results</a:t>
            </a:r>
          </a:p>
        </p:txBody>
      </p:sp>
      <p:sp>
        <p:nvSpPr>
          <p:cNvPr id="141" name="TextBox 140"/>
          <p:cNvSpPr txBox="1"/>
          <p:nvPr/>
        </p:nvSpPr>
        <p:spPr>
          <a:xfrm>
            <a:off x="10341863" y="1847088"/>
            <a:ext cx="1170432" cy="1097280"/>
          </a:xfrm>
          <a:prstGeom prst="rect">
            <a:avLst/>
          </a:prstGeom>
          <a:noFill/>
        </p:spPr>
        <p:txBody>
          <a:bodyPr wrap="square" lIns="0" rIns="0" tIns="0" bIns="0" anchor="t">
            <a:spAutoFit/>
          </a:bodyPr>
          <a:lstStyle/>
          <a:p>
            <a:pPr algn="l">
              <a:spcAft>
                <a:spcPts val="600"/>
              </a:spcAft>
            </a:pPr>
            <a:r>
              <a:rPr sz="1150" b="0" i="0">
                <a:solidFill>
                  <a:srgbClr val="55556E"/>
                </a:solidFill>
                <a:latin typeface="Calibri"/>
              </a:rPr>
              <a:t>File, function, lines, GitHub link</a:t>
            </a:r>
          </a:p>
        </p:txBody>
      </p:sp>
      <p:sp>
        <p:nvSpPr>
          <p:cNvPr id="142" name="TextBox 141"/>
          <p:cNvSpPr txBox="1"/>
          <p:nvPr/>
        </p:nvSpPr>
        <p:spPr>
          <a:xfrm>
            <a:off x="548640" y="3246120"/>
            <a:ext cx="10972800" cy="274320"/>
          </a:xfrm>
          <a:prstGeom prst="rect">
            <a:avLst/>
          </a:prstGeom>
          <a:noFill/>
        </p:spPr>
        <p:txBody>
          <a:bodyPr wrap="square" lIns="0" rIns="0" tIns="0" bIns="0" anchor="t">
            <a:spAutoFit/>
          </a:bodyPr>
          <a:lstStyle/>
          <a:p>
            <a:pPr algn="l">
              <a:spcAft>
                <a:spcPts val="600"/>
              </a:spcAft>
            </a:pPr>
            <a:r>
              <a:rPr sz="1200" b="1" i="0">
                <a:solidFill>
                  <a:srgbClr val="B45309"/>
                </a:solidFill>
                <a:latin typeface="Calibri"/>
              </a:rPr>
              <a:t>OFFLINE  ·  ONCE PER CORPUS OR COMMIT</a:t>
            </a:r>
          </a:p>
        </p:txBody>
      </p:sp>
      <p:sp>
        <p:nvSpPr>
          <p:cNvPr id="143" name="Rounded Rectangle 142"/>
          <p:cNvSpPr/>
          <p:nvPr/>
        </p:nvSpPr>
        <p:spPr>
          <a:xfrm>
            <a:off x="548640" y="3566160"/>
            <a:ext cx="2011680" cy="1234440"/>
          </a:xfrm>
          <a:prstGeom prst="roundRect">
            <a:avLst>
              <a:gd name="adj" fmla="val 6000"/>
            </a:avLst>
          </a:prstGeom>
          <a:solidFill>
            <a:srgbClr val="FFFFFF"/>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TextBox 143"/>
          <p:cNvSpPr txBox="1"/>
          <p:nvPr/>
        </p:nvSpPr>
        <p:spPr>
          <a:xfrm>
            <a:off x="676656" y="3657600"/>
            <a:ext cx="1755648" cy="320040"/>
          </a:xfrm>
          <a:prstGeom prst="rect">
            <a:avLst/>
          </a:prstGeom>
          <a:noFill/>
        </p:spPr>
        <p:txBody>
          <a:bodyPr wrap="square" lIns="0" rIns="0" tIns="0" bIns="0" anchor="t">
            <a:spAutoFit/>
          </a:bodyPr>
          <a:lstStyle/>
          <a:p>
            <a:pPr algn="l">
              <a:spcAft>
                <a:spcPts val="600"/>
              </a:spcAft>
            </a:pPr>
            <a:r>
              <a:rPr sz="1400" b="1" i="0">
                <a:solidFill>
                  <a:srgbClr val="14142B"/>
                </a:solidFill>
                <a:latin typeface="Calibri"/>
              </a:rPr>
              <a:t>Source</a:t>
            </a:r>
          </a:p>
        </p:txBody>
      </p:sp>
      <p:sp>
        <p:nvSpPr>
          <p:cNvPr id="145" name="TextBox 144"/>
          <p:cNvSpPr txBox="1"/>
          <p:nvPr/>
        </p:nvSpPr>
        <p:spPr>
          <a:xfrm>
            <a:off x="676656" y="4005072"/>
            <a:ext cx="1755648" cy="777240"/>
          </a:xfrm>
          <a:prstGeom prst="rect">
            <a:avLst/>
          </a:prstGeom>
          <a:noFill/>
        </p:spPr>
        <p:txBody>
          <a:bodyPr wrap="square" lIns="0" rIns="0" tIns="0" bIns="0" anchor="t">
            <a:spAutoFit/>
          </a:bodyPr>
          <a:lstStyle/>
          <a:p>
            <a:pPr algn="l">
              <a:spcAft>
                <a:spcPts val="600"/>
              </a:spcAft>
            </a:pPr>
            <a:r>
              <a:rPr sz="1150" b="0" i="0">
                <a:solidFill>
                  <a:srgbClr val="55556E"/>
                </a:solidFill>
                <a:latin typeface="Calibri"/>
              </a:rPr>
              <a:t>APPS corpus, or a git repo at any commit</a:t>
            </a:r>
          </a:p>
        </p:txBody>
      </p:sp>
      <p:cxnSp>
        <p:nvCxnSpPr>
          <p:cNvPr id="146" name="Connector 145"/>
          <p:cNvCxnSpPr/>
          <p:nvPr/>
        </p:nvCxnSpPr>
        <p:spPr>
          <a:xfrm>
            <a:off x="2578608" y="4178808"/>
            <a:ext cx="214884" cy="0"/>
          </a:xfrm>
          <a:prstGeom prst="line">
            <a:avLst/>
          </a:prstGeom>
          <a:ln w="22225">
            <a:solidFill>
              <a:srgbClr val="B45309"/>
            </a:solidFill>
            <a:tailEnd type="triangle"/>
          </a:ln>
        </p:spPr>
        <p:style>
          <a:lnRef idx="2">
            <a:schemeClr val="accent1"/>
          </a:lnRef>
          <a:fillRef idx="0">
            <a:schemeClr val="accent1"/>
          </a:fillRef>
          <a:effectRef idx="1">
            <a:schemeClr val="accent1"/>
          </a:effectRef>
          <a:fontRef idx="minor">
            <a:schemeClr val="tx1"/>
          </a:fontRef>
        </p:style>
      </p:cxnSp>
      <p:sp>
        <p:nvSpPr>
          <p:cNvPr id="147" name="Rounded Rectangle 146"/>
          <p:cNvSpPr/>
          <p:nvPr/>
        </p:nvSpPr>
        <p:spPr>
          <a:xfrm>
            <a:off x="2811780" y="3566160"/>
            <a:ext cx="2011680" cy="1234440"/>
          </a:xfrm>
          <a:prstGeom prst="roundRect">
            <a:avLst>
              <a:gd name="adj" fmla="val 6000"/>
            </a:avLst>
          </a:prstGeom>
          <a:solidFill>
            <a:srgbClr val="F4F0FD"/>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TextBox 147"/>
          <p:cNvSpPr txBox="1"/>
          <p:nvPr/>
        </p:nvSpPr>
        <p:spPr>
          <a:xfrm>
            <a:off x="2939796" y="3657600"/>
            <a:ext cx="1755648" cy="320040"/>
          </a:xfrm>
          <a:prstGeom prst="rect">
            <a:avLst/>
          </a:prstGeom>
          <a:noFill/>
        </p:spPr>
        <p:txBody>
          <a:bodyPr wrap="square" lIns="0" rIns="0" tIns="0" bIns="0" anchor="t">
            <a:spAutoFit/>
          </a:bodyPr>
          <a:lstStyle/>
          <a:p>
            <a:pPr algn="l">
              <a:spcAft>
                <a:spcPts val="600"/>
              </a:spcAft>
            </a:pPr>
            <a:r>
              <a:rPr sz="1400" b="1" i="0">
                <a:solidFill>
                  <a:srgbClr val="B45309"/>
                </a:solidFill>
                <a:latin typeface="Calibri"/>
              </a:rPr>
              <a:t>git diff</a:t>
            </a:r>
          </a:p>
        </p:txBody>
      </p:sp>
      <p:sp>
        <p:nvSpPr>
          <p:cNvPr id="149" name="TextBox 148"/>
          <p:cNvSpPr txBox="1"/>
          <p:nvPr/>
        </p:nvSpPr>
        <p:spPr>
          <a:xfrm>
            <a:off x="2939796" y="4005072"/>
            <a:ext cx="1755648" cy="777240"/>
          </a:xfrm>
          <a:prstGeom prst="rect">
            <a:avLst/>
          </a:prstGeom>
          <a:noFill/>
        </p:spPr>
        <p:txBody>
          <a:bodyPr wrap="square" lIns="0" rIns="0" tIns="0" bIns="0" anchor="t">
            <a:spAutoFit/>
          </a:bodyPr>
          <a:lstStyle/>
          <a:p>
            <a:pPr algn="l">
              <a:spcAft>
                <a:spcPts val="600"/>
              </a:spcAft>
            </a:pPr>
            <a:r>
              <a:rPr sz="1150" b="0" i="0">
                <a:solidFill>
                  <a:srgbClr val="55556E"/>
                </a:solidFill>
                <a:latin typeface="Calibri"/>
              </a:rPr>
              <a:t>Find which files changed since the last indexed commit</a:t>
            </a:r>
          </a:p>
        </p:txBody>
      </p:sp>
      <p:cxnSp>
        <p:nvCxnSpPr>
          <p:cNvPr id="150" name="Connector 149"/>
          <p:cNvCxnSpPr/>
          <p:nvPr/>
        </p:nvCxnSpPr>
        <p:spPr>
          <a:xfrm>
            <a:off x="4841748" y="4178808"/>
            <a:ext cx="214884" cy="0"/>
          </a:xfrm>
          <a:prstGeom prst="line">
            <a:avLst/>
          </a:prstGeom>
          <a:ln w="22225">
            <a:solidFill>
              <a:srgbClr val="B45309"/>
            </a:solidFill>
            <a:tailEnd type="triangle"/>
          </a:ln>
        </p:spPr>
        <p:style>
          <a:lnRef idx="2">
            <a:schemeClr val="accent1"/>
          </a:lnRef>
          <a:fillRef idx="0">
            <a:schemeClr val="accent1"/>
          </a:fillRef>
          <a:effectRef idx="1">
            <a:schemeClr val="accent1"/>
          </a:effectRef>
          <a:fontRef idx="minor">
            <a:schemeClr val="tx1"/>
          </a:fontRef>
        </p:style>
      </p:cxnSp>
      <p:sp>
        <p:nvSpPr>
          <p:cNvPr id="151" name="Rounded Rectangle 150"/>
          <p:cNvSpPr/>
          <p:nvPr/>
        </p:nvSpPr>
        <p:spPr>
          <a:xfrm>
            <a:off x="5074920" y="3566160"/>
            <a:ext cx="2011680" cy="1234440"/>
          </a:xfrm>
          <a:prstGeom prst="roundRect">
            <a:avLst>
              <a:gd name="adj" fmla="val 6000"/>
            </a:avLst>
          </a:prstGeom>
          <a:solidFill>
            <a:srgbClr val="FFFFFF"/>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TextBox 151"/>
          <p:cNvSpPr txBox="1"/>
          <p:nvPr/>
        </p:nvSpPr>
        <p:spPr>
          <a:xfrm>
            <a:off x="5202936" y="3657600"/>
            <a:ext cx="1755648" cy="320040"/>
          </a:xfrm>
          <a:prstGeom prst="rect">
            <a:avLst/>
          </a:prstGeom>
          <a:noFill/>
        </p:spPr>
        <p:txBody>
          <a:bodyPr wrap="square" lIns="0" rIns="0" tIns="0" bIns="0" anchor="t">
            <a:spAutoFit/>
          </a:bodyPr>
          <a:lstStyle/>
          <a:p>
            <a:pPr algn="l">
              <a:spcAft>
                <a:spcPts val="600"/>
              </a:spcAft>
            </a:pPr>
            <a:r>
              <a:rPr sz="1400" b="1" i="0">
                <a:solidFill>
                  <a:srgbClr val="14142B"/>
                </a:solidFill>
                <a:latin typeface="Calibri"/>
              </a:rPr>
              <a:t>Chunk</a:t>
            </a:r>
          </a:p>
        </p:txBody>
      </p:sp>
      <p:sp>
        <p:nvSpPr>
          <p:cNvPr id="153" name="TextBox 152"/>
          <p:cNvSpPr txBox="1"/>
          <p:nvPr/>
        </p:nvSpPr>
        <p:spPr>
          <a:xfrm>
            <a:off x="5202936" y="4005072"/>
            <a:ext cx="1755648" cy="777240"/>
          </a:xfrm>
          <a:prstGeom prst="rect">
            <a:avLst/>
          </a:prstGeom>
          <a:noFill/>
        </p:spPr>
        <p:txBody>
          <a:bodyPr wrap="square" lIns="0" rIns="0" tIns="0" bIns="0" anchor="t">
            <a:spAutoFit/>
          </a:bodyPr>
          <a:lstStyle/>
          <a:p>
            <a:pPr algn="l">
              <a:spcAft>
                <a:spcPts val="600"/>
              </a:spcAft>
            </a:pPr>
            <a:r>
              <a:rPr sz="1150" b="0" i="0">
                <a:solidFill>
                  <a:srgbClr val="55556E"/>
                </a:solidFill>
                <a:latin typeface="Calibri"/>
              </a:rPr>
              <a:t>Python ast → functions, methods, classes, with line ranges</a:t>
            </a:r>
          </a:p>
        </p:txBody>
      </p:sp>
      <p:cxnSp>
        <p:nvCxnSpPr>
          <p:cNvPr id="154" name="Connector 153"/>
          <p:cNvCxnSpPr/>
          <p:nvPr/>
        </p:nvCxnSpPr>
        <p:spPr>
          <a:xfrm>
            <a:off x="7104888" y="4178808"/>
            <a:ext cx="214884" cy="0"/>
          </a:xfrm>
          <a:prstGeom prst="line">
            <a:avLst/>
          </a:prstGeom>
          <a:ln w="22225">
            <a:solidFill>
              <a:srgbClr val="B45309"/>
            </a:solidFill>
            <a:tailEnd type="triangle"/>
          </a:ln>
        </p:spPr>
        <p:style>
          <a:lnRef idx="2">
            <a:schemeClr val="accent1"/>
          </a:lnRef>
          <a:fillRef idx="0">
            <a:schemeClr val="accent1"/>
          </a:fillRef>
          <a:effectRef idx="1">
            <a:schemeClr val="accent1"/>
          </a:effectRef>
          <a:fontRef idx="minor">
            <a:schemeClr val="tx1"/>
          </a:fontRef>
        </p:style>
      </p:cxnSp>
      <p:sp>
        <p:nvSpPr>
          <p:cNvPr id="155" name="Rounded Rectangle 154"/>
          <p:cNvSpPr/>
          <p:nvPr/>
        </p:nvSpPr>
        <p:spPr>
          <a:xfrm>
            <a:off x="7338060" y="3566160"/>
            <a:ext cx="2011680" cy="1234440"/>
          </a:xfrm>
          <a:prstGeom prst="roundRect">
            <a:avLst>
              <a:gd name="adj" fmla="val 6000"/>
            </a:avLst>
          </a:prstGeom>
          <a:solidFill>
            <a:srgbClr val="F4F0FD"/>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Box 155"/>
          <p:cNvSpPr txBox="1"/>
          <p:nvPr/>
        </p:nvSpPr>
        <p:spPr>
          <a:xfrm>
            <a:off x="7466076" y="3657600"/>
            <a:ext cx="1755648" cy="320040"/>
          </a:xfrm>
          <a:prstGeom prst="rect">
            <a:avLst/>
          </a:prstGeom>
          <a:noFill/>
        </p:spPr>
        <p:txBody>
          <a:bodyPr wrap="square" lIns="0" rIns="0" tIns="0" bIns="0" anchor="t">
            <a:spAutoFit/>
          </a:bodyPr>
          <a:lstStyle/>
          <a:p>
            <a:pPr algn="l">
              <a:spcAft>
                <a:spcPts val="600"/>
              </a:spcAft>
            </a:pPr>
            <a:r>
              <a:rPr sz="1400" b="1" i="0">
                <a:solidFill>
                  <a:srgbClr val="B45309"/>
                </a:solidFill>
                <a:latin typeface="Calibri"/>
              </a:rPr>
              <a:t>Hash check</a:t>
            </a:r>
          </a:p>
        </p:txBody>
      </p:sp>
      <p:sp>
        <p:nvSpPr>
          <p:cNvPr id="157" name="TextBox 156"/>
          <p:cNvSpPr txBox="1"/>
          <p:nvPr/>
        </p:nvSpPr>
        <p:spPr>
          <a:xfrm>
            <a:off x="7466076" y="4005072"/>
            <a:ext cx="1755648" cy="777240"/>
          </a:xfrm>
          <a:prstGeom prst="rect">
            <a:avLst/>
          </a:prstGeom>
          <a:noFill/>
        </p:spPr>
        <p:txBody>
          <a:bodyPr wrap="square" lIns="0" rIns="0" tIns="0" bIns="0" anchor="t">
            <a:spAutoFit/>
          </a:bodyPr>
          <a:lstStyle/>
          <a:p>
            <a:pPr algn="l">
              <a:spcAft>
                <a:spcPts val="600"/>
              </a:spcAft>
            </a:pPr>
            <a:r>
              <a:rPr sz="1150" b="0" i="0">
                <a:solidFill>
                  <a:srgbClr val="55556E"/>
                </a:solidFill>
                <a:latin typeface="Calibri"/>
              </a:rPr>
              <a:t>Embed a chunk only if its code is new</a:t>
            </a:r>
          </a:p>
        </p:txBody>
      </p:sp>
      <p:cxnSp>
        <p:nvCxnSpPr>
          <p:cNvPr id="158" name="Connector 157"/>
          <p:cNvCxnSpPr/>
          <p:nvPr/>
        </p:nvCxnSpPr>
        <p:spPr>
          <a:xfrm>
            <a:off x="9368028" y="4178808"/>
            <a:ext cx="214884" cy="0"/>
          </a:xfrm>
          <a:prstGeom prst="line">
            <a:avLst/>
          </a:prstGeom>
          <a:ln w="22225">
            <a:solidFill>
              <a:srgbClr val="B45309"/>
            </a:solidFill>
            <a:tailEnd type="triangle"/>
          </a:ln>
        </p:spPr>
        <p:style>
          <a:lnRef idx="2">
            <a:schemeClr val="accent1"/>
          </a:lnRef>
          <a:fillRef idx="0">
            <a:schemeClr val="accent1"/>
          </a:fillRef>
          <a:effectRef idx="1">
            <a:schemeClr val="accent1"/>
          </a:effectRef>
          <a:fontRef idx="minor">
            <a:schemeClr val="tx1"/>
          </a:fontRef>
        </p:style>
      </p:cxnSp>
      <p:sp>
        <p:nvSpPr>
          <p:cNvPr id="159" name="Rounded Rectangle 158"/>
          <p:cNvSpPr/>
          <p:nvPr/>
        </p:nvSpPr>
        <p:spPr>
          <a:xfrm>
            <a:off x="9601200" y="3566160"/>
            <a:ext cx="2011680" cy="1234440"/>
          </a:xfrm>
          <a:prstGeom prst="roundRect">
            <a:avLst>
              <a:gd name="adj" fmla="val 6000"/>
            </a:avLst>
          </a:prstGeom>
          <a:solidFill>
            <a:srgbClr val="FFFFFF"/>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TextBox 159"/>
          <p:cNvSpPr txBox="1"/>
          <p:nvPr/>
        </p:nvSpPr>
        <p:spPr>
          <a:xfrm>
            <a:off x="9729216" y="3657600"/>
            <a:ext cx="1755648" cy="320040"/>
          </a:xfrm>
          <a:prstGeom prst="rect">
            <a:avLst/>
          </a:prstGeom>
          <a:noFill/>
        </p:spPr>
        <p:txBody>
          <a:bodyPr wrap="square" lIns="0" rIns="0" tIns="0" bIns="0" anchor="t">
            <a:spAutoFit/>
          </a:bodyPr>
          <a:lstStyle/>
          <a:p>
            <a:pPr algn="l">
              <a:spcAft>
                <a:spcPts val="600"/>
              </a:spcAft>
            </a:pPr>
            <a:r>
              <a:rPr sz="1400" b="1" i="0">
                <a:solidFill>
                  <a:srgbClr val="14142B"/>
                </a:solidFill>
                <a:latin typeface="Calibri"/>
              </a:rPr>
              <a:t>Publish</a:t>
            </a:r>
          </a:p>
        </p:txBody>
      </p:sp>
      <p:sp>
        <p:nvSpPr>
          <p:cNvPr id="161" name="TextBox 160"/>
          <p:cNvSpPr txBox="1"/>
          <p:nvPr/>
        </p:nvSpPr>
        <p:spPr>
          <a:xfrm>
            <a:off x="9729216" y="4005072"/>
            <a:ext cx="1755648" cy="777240"/>
          </a:xfrm>
          <a:prstGeom prst="rect">
            <a:avLst/>
          </a:prstGeom>
          <a:noFill/>
        </p:spPr>
        <p:txBody>
          <a:bodyPr wrap="square" lIns="0" rIns="0" tIns="0" bIns="0" anchor="t">
            <a:spAutoFit/>
          </a:bodyPr>
          <a:lstStyle/>
          <a:p>
            <a:pPr algn="l">
              <a:spcAft>
                <a:spcPts val="600"/>
              </a:spcAft>
            </a:pPr>
            <a:r>
              <a:rPr sz="1150" b="0" i="0">
                <a:solidFill>
                  <a:srgbClr val="55556E"/>
                </a:solidFill>
                <a:latin typeface="Calibri"/>
              </a:rPr>
              <a:t>Index + registry pushed to Hugging Face</a:t>
            </a:r>
          </a:p>
        </p:txBody>
      </p:sp>
      <p:sp>
        <p:nvSpPr>
          <p:cNvPr id="162" name="Rounded Rectangle 161"/>
          <p:cNvSpPr/>
          <p:nvPr/>
        </p:nvSpPr>
        <p:spPr>
          <a:xfrm>
            <a:off x="548640" y="5029200"/>
            <a:ext cx="11064240" cy="1143000"/>
          </a:xfrm>
          <a:prstGeom prst="roundRect">
            <a:avLst>
              <a:gd name="adj" fmla="val 6000"/>
            </a:avLst>
          </a:prstGeom>
          <a:solidFill>
            <a:srgbClr val="FFFFFF"/>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TextBox 162"/>
          <p:cNvSpPr txBox="1"/>
          <p:nvPr/>
        </p:nvSpPr>
        <p:spPr>
          <a:xfrm>
            <a:off x="777240" y="5120640"/>
            <a:ext cx="10607040" cy="274320"/>
          </a:xfrm>
          <a:prstGeom prst="rect">
            <a:avLst/>
          </a:prstGeom>
          <a:noFill/>
        </p:spPr>
        <p:txBody>
          <a:bodyPr wrap="square" lIns="0" rIns="0" tIns="0" bIns="0" anchor="t">
            <a:spAutoFit/>
          </a:bodyPr>
          <a:lstStyle/>
          <a:p>
            <a:pPr algn="l">
              <a:spcAft>
                <a:spcPts val="600"/>
              </a:spcAft>
            </a:pPr>
            <a:r>
              <a:rPr sz="1300" b="1" i="0">
                <a:solidFill>
                  <a:srgbClr val="6D28D9"/>
                </a:solidFill>
                <a:latin typeface="Calibri"/>
              </a:rPr>
              <a:t>Mapped to the brief's suggested improvements</a:t>
            </a:r>
          </a:p>
        </p:txBody>
      </p:sp>
      <p:sp>
        <p:nvSpPr>
          <p:cNvPr id="164" name="TextBox 163"/>
          <p:cNvSpPr txBox="1"/>
          <p:nvPr/>
        </p:nvSpPr>
        <p:spPr>
          <a:xfrm>
            <a:off x="777240" y="5468112"/>
            <a:ext cx="10607040" cy="640080"/>
          </a:xfrm>
          <a:prstGeom prst="rect">
            <a:avLst/>
          </a:prstGeom>
          <a:noFill/>
        </p:spPr>
        <p:txBody>
          <a:bodyPr wrap="square" lIns="0" rIns="0" tIns="0" bIns="0" anchor="t">
            <a:spAutoFit/>
          </a:bodyPr>
          <a:lstStyle/>
          <a:p>
            <a:pPr algn="l">
              <a:spcAft>
                <a:spcPts val="600"/>
              </a:spcAft>
            </a:pPr>
            <a:r>
              <a:rPr sz="1200" b="1" i="0">
                <a:solidFill>
                  <a:srgbClr val="0E8A62"/>
                </a:solidFill>
                <a:latin typeface="Calibri"/>
              </a:rPr>
              <a:t>✓ Query pre-processing    </a:t>
            </a:r>
            <a:r>
              <a:rPr sz="1200" b="1" i="0">
                <a:solidFill>
                  <a:srgbClr val="0E8A62"/>
                </a:solidFill>
                <a:latin typeface="Calibri"/>
              </a:rPr>
              <a:t>✓ Snippet pre-processing (ast chunks)    </a:t>
            </a:r>
            <a:r>
              <a:rPr sz="1200" b="1" i="0">
                <a:solidFill>
                  <a:srgbClr val="0E8A62"/>
                </a:solidFill>
                <a:latin typeface="Calibri"/>
              </a:rPr>
              <a:t>✓ Snippet categorisation (function / method / class)    </a:t>
            </a:r>
            <a:r>
              <a:rPr sz="1200" b="1" i="0">
                <a:solidFill>
                  <a:srgbClr val="0E8A62"/>
                </a:solidFill>
                <a:latin typeface="Calibri"/>
              </a:rPr>
              <a:t>✓ Second pass: lineage grouping    </a:t>
            </a:r>
            <a:r>
              <a:rPr sz="1200" b="0" i="0">
                <a:solidFill>
                  <a:srgbClr val="55556E"/>
                </a:solidFill>
                <a:latin typeface="Calibri"/>
              </a:rPr>
              <a:t>○ Query categorisation: next</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 name="Shape 112"/>
        <p:cNvGrpSpPr/>
        <p:nvPr/>
      </p:nvGrpSpPr>
      <p:grpSpPr>
        <a:xfrm>
          <a:off x="0" y="0"/>
          <a:ext cx="0" cy="0"/>
          <a:chOff x="0" y="0"/>
          <a:chExt cx="0" cy="0"/>
        </a:xfrm>
      </p:grpSpPr>
      <p:sp>
        <p:nvSpPr>
          <p:cNvPr id="113" name="Google Shape;113;p4"/>
          <p:cNvSpPr txBox="1"/>
          <p:nvPr>
            <p:ph type="title"/>
          </p:nvPr>
        </p:nvSpPr>
        <p:spPr>
          <a:xfrm>
            <a:off x="548640" y="320040"/>
            <a:ext cx="11064240" cy="731520"/>
          </a:xfrm>
          <a:prstGeom prst="rect">
            <a:avLst/>
          </a:prstGeom>
          <a:noFill/>
          <a:ln>
            <a:noFill/>
          </a:ln>
        </p:spPr>
        <p:txBody>
          <a:bodyPr anchorCtr="0" anchor="ctr" bIns="45700" lIns="91425" spcFirstLastPara="1" rIns="91425" wrap="square" tIns="45700"/>
          <a:lstStyle/>
          <a:p>
            <a:pPr indent="0" lvl="0" marL="0" rtl="0" algn="l">
              <a:lnSpc>
                <a:spcPct val="90000"/>
              </a:lnSpc>
              <a:spcBef>
                <a:spcPts val="0"/>
              </a:spcBef>
              <a:spcAft>
                <a:spcPts val="0"/>
              </a:spcAft>
              <a:buClr>
                <a:srgbClr val="704EA6"/>
              </a:buClr>
              <a:buSzPts val="4400"/>
              <a:buFont typeface="Calibri"/>
              <a:buNone/>
            </a:pPr>
            <a:r>
              <a:rPr b="1" lang="en-US" sz="3000">
                <a:solidFill>
                  <a:srgbClr val="704EA6"/>
                </a:solidFill>
                <a:latin typeface="Calibri"/>
                <a:ea typeface="Calibri"/>
                <a:cs typeface="Calibri"/>
                <a:sym typeface="Calibri"/>
              </a:rPr>
              <a:t>Our Solutions &amp; Architecture (contd.): model and training</a:t>
            </a:r>
            <a:endParaRPr/>
          </a:p>
        </p:txBody>
      </p:sp>
      <p:sp>
        <p:nvSpPr>
          <p:cNvPr id="114" name="TextBox 113"/>
          <p:cNvSpPr txBox="1"/>
          <p:nvPr/>
        </p:nvSpPr>
        <p:spPr>
          <a:xfrm>
            <a:off x="548640" y="1097280"/>
            <a:ext cx="5394960" cy="320040"/>
          </a:xfrm>
          <a:prstGeom prst="rect">
            <a:avLst/>
          </a:prstGeom>
          <a:noFill/>
        </p:spPr>
        <p:txBody>
          <a:bodyPr wrap="square" lIns="0" rIns="0" tIns="0" bIns="0" anchor="t">
            <a:spAutoFit/>
          </a:bodyPr>
          <a:lstStyle/>
          <a:p>
            <a:pPr algn="l">
              <a:spcAft>
                <a:spcPts val="600"/>
              </a:spcAft>
            </a:pPr>
            <a:r>
              <a:rPr sz="1600" b="1" i="0">
                <a:solidFill>
                  <a:srgbClr val="6D28D9"/>
                </a:solidFill>
                <a:latin typeface="Calibri"/>
              </a:rPr>
              <a:t>Query pre-processing (desc-io)</a:t>
            </a:r>
          </a:p>
        </p:txBody>
      </p:sp>
      <p:sp>
        <p:nvSpPr>
          <p:cNvPr id="115" name="TextBox 114"/>
          <p:cNvSpPr txBox="1"/>
          <p:nvPr/>
        </p:nvSpPr>
        <p:spPr>
          <a:xfrm>
            <a:off x="548640" y="1444752"/>
            <a:ext cx="5394960" cy="502920"/>
          </a:xfrm>
          <a:prstGeom prst="rect">
            <a:avLst/>
          </a:prstGeom>
          <a:noFill/>
        </p:spPr>
        <p:txBody>
          <a:bodyPr wrap="square" lIns="0" rIns="0" tIns="0" bIns="0" anchor="t">
            <a:spAutoFit/>
          </a:bodyPr>
          <a:lstStyle/>
          <a:p>
            <a:pPr algn="l">
              <a:spcAft>
                <a:spcPts val="600"/>
              </a:spcAft>
            </a:pPr>
            <a:r>
              <a:rPr sz="1250" b="0" i="0">
                <a:solidFill>
                  <a:srgbClr val="55556E"/>
                </a:solidFill>
                <a:latin typeface="Calibri"/>
              </a:rPr>
              <a:t>APPS questions are long (median ~1.6k characters). Most of that is sample tests and constraints, which tell the model nothing about what the code does.</a:t>
            </a:r>
          </a:p>
        </p:txBody>
      </p:sp>
      <p:sp>
        <p:nvSpPr>
          <p:cNvPr id="116" name="Rounded Rectangle 115"/>
          <p:cNvSpPr/>
          <p:nvPr/>
        </p:nvSpPr>
        <p:spPr>
          <a:xfrm>
            <a:off x="548640" y="2103120"/>
            <a:ext cx="3840480" cy="365760"/>
          </a:xfrm>
          <a:prstGeom prst="roundRect">
            <a:avLst>
              <a:gd name="adj" fmla="val 20000"/>
            </a:avLst>
          </a:prstGeom>
          <a:solidFill>
            <a:srgbClr val="F4F0FD"/>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777240" y="2103120"/>
            <a:ext cx="3383280" cy="365760"/>
          </a:xfrm>
          <a:prstGeom prst="rect">
            <a:avLst/>
          </a:prstGeom>
          <a:noFill/>
        </p:spPr>
        <p:txBody>
          <a:bodyPr wrap="square" lIns="0" rIns="0" tIns="0" bIns="0" anchor="ctr">
            <a:spAutoFit/>
          </a:bodyPr>
          <a:lstStyle/>
          <a:p>
            <a:pPr algn="l">
              <a:spcAft>
                <a:spcPts val="600"/>
              </a:spcAft>
            </a:pPr>
            <a:r>
              <a:rPr sz="1300" b="1" i="0">
                <a:solidFill>
                  <a:srgbClr val="14142B"/>
                </a:solidFill>
                <a:latin typeface="Calibri"/>
              </a:rPr>
              <a:t>Problem description</a:t>
            </a:r>
          </a:p>
        </p:txBody>
      </p:sp>
      <p:sp>
        <p:nvSpPr>
          <p:cNvPr id="118" name="Rounded Rectangle 117"/>
          <p:cNvSpPr/>
          <p:nvPr/>
        </p:nvSpPr>
        <p:spPr>
          <a:xfrm>
            <a:off x="4526280" y="2139696"/>
            <a:ext cx="1188720" cy="292608"/>
          </a:xfrm>
          <a:prstGeom prst="roundRect">
            <a:avLst>
              <a:gd name="adj" fmla="val 50000"/>
            </a:avLst>
          </a:prstGeom>
          <a:solidFill>
            <a:srgbClr val="0E8A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kept</a:t>
            </a:r>
          </a:p>
        </p:txBody>
      </p:sp>
      <p:sp>
        <p:nvSpPr>
          <p:cNvPr id="119" name="Rounded Rectangle 118"/>
          <p:cNvSpPr/>
          <p:nvPr/>
        </p:nvSpPr>
        <p:spPr>
          <a:xfrm>
            <a:off x="548640" y="2560320"/>
            <a:ext cx="3840480" cy="365760"/>
          </a:xfrm>
          <a:prstGeom prst="roundRect">
            <a:avLst>
              <a:gd name="adj" fmla="val 20000"/>
            </a:avLst>
          </a:prstGeom>
          <a:solidFill>
            <a:srgbClr val="F4F0FD"/>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Box 119"/>
          <p:cNvSpPr txBox="1"/>
          <p:nvPr/>
        </p:nvSpPr>
        <p:spPr>
          <a:xfrm>
            <a:off x="777240" y="2560320"/>
            <a:ext cx="3383280" cy="365760"/>
          </a:xfrm>
          <a:prstGeom prst="rect">
            <a:avLst/>
          </a:prstGeom>
          <a:noFill/>
        </p:spPr>
        <p:txBody>
          <a:bodyPr wrap="square" lIns="0" rIns="0" tIns="0" bIns="0" anchor="ctr">
            <a:spAutoFit/>
          </a:bodyPr>
          <a:lstStyle/>
          <a:p>
            <a:pPr algn="l">
              <a:spcAft>
                <a:spcPts val="600"/>
              </a:spcAft>
            </a:pPr>
            <a:r>
              <a:rPr sz="1300" b="1" i="0">
                <a:solidFill>
                  <a:srgbClr val="14142B"/>
                </a:solidFill>
                <a:latin typeface="Calibri"/>
              </a:rPr>
              <a:t>Input format</a:t>
            </a:r>
          </a:p>
        </p:txBody>
      </p:sp>
      <p:sp>
        <p:nvSpPr>
          <p:cNvPr id="121" name="Rounded Rectangle 120"/>
          <p:cNvSpPr/>
          <p:nvPr/>
        </p:nvSpPr>
        <p:spPr>
          <a:xfrm>
            <a:off x="4526280" y="2596896"/>
            <a:ext cx="1188720" cy="292608"/>
          </a:xfrm>
          <a:prstGeom prst="roundRect">
            <a:avLst>
              <a:gd name="adj" fmla="val 50000"/>
            </a:avLst>
          </a:prstGeom>
          <a:solidFill>
            <a:srgbClr val="0E8A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kept</a:t>
            </a:r>
          </a:p>
        </p:txBody>
      </p:sp>
      <p:sp>
        <p:nvSpPr>
          <p:cNvPr id="122" name="Rounded Rectangle 121"/>
          <p:cNvSpPr/>
          <p:nvPr/>
        </p:nvSpPr>
        <p:spPr>
          <a:xfrm>
            <a:off x="548640" y="3017520"/>
            <a:ext cx="3840480" cy="365760"/>
          </a:xfrm>
          <a:prstGeom prst="roundRect">
            <a:avLst>
              <a:gd name="adj" fmla="val 20000"/>
            </a:avLst>
          </a:prstGeom>
          <a:solidFill>
            <a:srgbClr val="F4F0FD"/>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Box 122"/>
          <p:cNvSpPr txBox="1"/>
          <p:nvPr/>
        </p:nvSpPr>
        <p:spPr>
          <a:xfrm>
            <a:off x="777240" y="3017520"/>
            <a:ext cx="3383280" cy="365760"/>
          </a:xfrm>
          <a:prstGeom prst="rect">
            <a:avLst/>
          </a:prstGeom>
          <a:noFill/>
        </p:spPr>
        <p:txBody>
          <a:bodyPr wrap="square" lIns="0" rIns="0" tIns="0" bIns="0" anchor="ctr">
            <a:spAutoFit/>
          </a:bodyPr>
          <a:lstStyle/>
          <a:p>
            <a:pPr algn="l">
              <a:spcAft>
                <a:spcPts val="600"/>
              </a:spcAft>
            </a:pPr>
            <a:r>
              <a:rPr sz="1300" b="1" i="0">
                <a:solidFill>
                  <a:srgbClr val="14142B"/>
                </a:solidFill>
                <a:latin typeface="Calibri"/>
              </a:rPr>
              <a:t>Output format</a:t>
            </a:r>
          </a:p>
        </p:txBody>
      </p:sp>
      <p:sp>
        <p:nvSpPr>
          <p:cNvPr id="124" name="Rounded Rectangle 123"/>
          <p:cNvSpPr/>
          <p:nvPr/>
        </p:nvSpPr>
        <p:spPr>
          <a:xfrm>
            <a:off x="4526280" y="3054096"/>
            <a:ext cx="1188720" cy="292608"/>
          </a:xfrm>
          <a:prstGeom prst="roundRect">
            <a:avLst>
              <a:gd name="adj" fmla="val 50000"/>
            </a:avLst>
          </a:prstGeom>
          <a:solidFill>
            <a:srgbClr val="0E8A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kept</a:t>
            </a:r>
          </a:p>
        </p:txBody>
      </p:sp>
      <p:sp>
        <p:nvSpPr>
          <p:cNvPr id="125" name="Rounded Rectangle 124"/>
          <p:cNvSpPr/>
          <p:nvPr/>
        </p:nvSpPr>
        <p:spPr>
          <a:xfrm>
            <a:off x="548640" y="3474720"/>
            <a:ext cx="3840480" cy="365760"/>
          </a:xfrm>
          <a:prstGeom prst="roundRect">
            <a:avLst>
              <a:gd name="adj" fmla="val 20000"/>
            </a:avLst>
          </a:prstGeom>
          <a:solidFill>
            <a:srgbClr val="F1F1F4"/>
          </a:solidFill>
          <a:ln w="12700">
            <a:solidFill>
              <a:srgbClr val="D0D0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Box 125"/>
          <p:cNvSpPr txBox="1"/>
          <p:nvPr/>
        </p:nvSpPr>
        <p:spPr>
          <a:xfrm>
            <a:off x="777240" y="3474720"/>
            <a:ext cx="3383280" cy="365760"/>
          </a:xfrm>
          <a:prstGeom prst="rect">
            <a:avLst/>
          </a:prstGeom>
          <a:noFill/>
        </p:spPr>
        <p:txBody>
          <a:bodyPr wrap="square" lIns="0" rIns="0" tIns="0" bIns="0" anchor="ctr">
            <a:spAutoFit/>
          </a:bodyPr>
          <a:lstStyle/>
          <a:p>
            <a:pPr algn="l">
              <a:spcAft>
                <a:spcPts val="600"/>
              </a:spcAft>
            </a:pPr>
            <a:r>
              <a:rPr sz="1300" b="0" i="0">
                <a:solidFill>
                  <a:srgbClr val="9A9AAE"/>
                </a:solidFill>
                <a:latin typeface="Calibri"/>
              </a:rPr>
              <a:t>Sample tests</a:t>
            </a:r>
          </a:p>
        </p:txBody>
      </p:sp>
      <p:sp>
        <p:nvSpPr>
          <p:cNvPr id="127" name="Rounded Rectangle 126"/>
          <p:cNvSpPr/>
          <p:nvPr/>
        </p:nvSpPr>
        <p:spPr>
          <a:xfrm>
            <a:off x="4526280" y="3511296"/>
            <a:ext cx="1188720" cy="292608"/>
          </a:xfrm>
          <a:prstGeom prst="roundRect">
            <a:avLst>
              <a:gd name="adj" fmla="val 50000"/>
            </a:avLst>
          </a:prstGeom>
          <a:solidFill>
            <a:srgbClr val="B0B0B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dropped</a:t>
            </a:r>
          </a:p>
        </p:txBody>
      </p:sp>
      <p:sp>
        <p:nvSpPr>
          <p:cNvPr id="128" name="Rounded Rectangle 127"/>
          <p:cNvSpPr/>
          <p:nvPr/>
        </p:nvSpPr>
        <p:spPr>
          <a:xfrm>
            <a:off x="548640" y="3931920"/>
            <a:ext cx="3840480" cy="365760"/>
          </a:xfrm>
          <a:prstGeom prst="roundRect">
            <a:avLst>
              <a:gd name="adj" fmla="val 20000"/>
            </a:avLst>
          </a:prstGeom>
          <a:solidFill>
            <a:srgbClr val="F1F1F4"/>
          </a:solidFill>
          <a:ln w="12700">
            <a:solidFill>
              <a:srgbClr val="D0D0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Box 128"/>
          <p:cNvSpPr txBox="1"/>
          <p:nvPr/>
        </p:nvSpPr>
        <p:spPr>
          <a:xfrm>
            <a:off x="777240" y="3931920"/>
            <a:ext cx="3383280" cy="365760"/>
          </a:xfrm>
          <a:prstGeom prst="rect">
            <a:avLst/>
          </a:prstGeom>
          <a:noFill/>
        </p:spPr>
        <p:txBody>
          <a:bodyPr wrap="square" lIns="0" rIns="0" tIns="0" bIns="0" anchor="ctr">
            <a:spAutoFit/>
          </a:bodyPr>
          <a:lstStyle/>
          <a:p>
            <a:pPr algn="l">
              <a:spcAft>
                <a:spcPts val="600"/>
              </a:spcAft>
            </a:pPr>
            <a:r>
              <a:rPr sz="1300" b="0" i="0">
                <a:solidFill>
                  <a:srgbClr val="9A9AAE"/>
                </a:solidFill>
                <a:latin typeface="Calibri"/>
              </a:rPr>
              <a:t>Notes</a:t>
            </a:r>
          </a:p>
        </p:txBody>
      </p:sp>
      <p:sp>
        <p:nvSpPr>
          <p:cNvPr id="130" name="Rounded Rectangle 129"/>
          <p:cNvSpPr/>
          <p:nvPr/>
        </p:nvSpPr>
        <p:spPr>
          <a:xfrm>
            <a:off x="4526280" y="3968496"/>
            <a:ext cx="1188720" cy="292608"/>
          </a:xfrm>
          <a:prstGeom prst="roundRect">
            <a:avLst>
              <a:gd name="adj" fmla="val 50000"/>
            </a:avLst>
          </a:prstGeom>
          <a:solidFill>
            <a:srgbClr val="B0B0B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dropped</a:t>
            </a:r>
          </a:p>
        </p:txBody>
      </p:sp>
      <p:sp>
        <p:nvSpPr>
          <p:cNvPr id="131" name="Rounded Rectangle 130"/>
          <p:cNvSpPr/>
          <p:nvPr/>
        </p:nvSpPr>
        <p:spPr>
          <a:xfrm>
            <a:off x="548640" y="4389120"/>
            <a:ext cx="3840480" cy="365760"/>
          </a:xfrm>
          <a:prstGeom prst="roundRect">
            <a:avLst>
              <a:gd name="adj" fmla="val 20000"/>
            </a:avLst>
          </a:prstGeom>
          <a:solidFill>
            <a:srgbClr val="F1F1F4"/>
          </a:solidFill>
          <a:ln w="12700">
            <a:solidFill>
              <a:srgbClr val="D0D0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Box 131"/>
          <p:cNvSpPr txBox="1"/>
          <p:nvPr/>
        </p:nvSpPr>
        <p:spPr>
          <a:xfrm>
            <a:off x="777240" y="4389120"/>
            <a:ext cx="3383280" cy="365760"/>
          </a:xfrm>
          <a:prstGeom prst="rect">
            <a:avLst/>
          </a:prstGeom>
          <a:noFill/>
        </p:spPr>
        <p:txBody>
          <a:bodyPr wrap="square" lIns="0" rIns="0" tIns="0" bIns="0" anchor="ctr">
            <a:spAutoFit/>
          </a:bodyPr>
          <a:lstStyle/>
          <a:p>
            <a:pPr algn="l">
              <a:spcAft>
                <a:spcPts val="600"/>
              </a:spcAft>
            </a:pPr>
            <a:r>
              <a:rPr sz="1300" b="0" i="0">
                <a:solidFill>
                  <a:srgbClr val="9A9AAE"/>
                </a:solidFill>
                <a:latin typeface="Calibri"/>
              </a:rPr>
              <a:t>Constraints</a:t>
            </a:r>
          </a:p>
        </p:txBody>
      </p:sp>
      <p:sp>
        <p:nvSpPr>
          <p:cNvPr id="133" name="Rounded Rectangle 132"/>
          <p:cNvSpPr/>
          <p:nvPr/>
        </p:nvSpPr>
        <p:spPr>
          <a:xfrm>
            <a:off x="4526280" y="4425696"/>
            <a:ext cx="1188720" cy="292608"/>
          </a:xfrm>
          <a:prstGeom prst="roundRect">
            <a:avLst>
              <a:gd name="adj" fmla="val 50000"/>
            </a:avLst>
          </a:prstGeom>
          <a:solidFill>
            <a:srgbClr val="B0B0B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dropped</a:t>
            </a:r>
          </a:p>
        </p:txBody>
      </p:sp>
      <p:sp>
        <p:nvSpPr>
          <p:cNvPr id="134" name="TextBox 133"/>
          <p:cNvSpPr txBox="1"/>
          <p:nvPr/>
        </p:nvSpPr>
        <p:spPr>
          <a:xfrm>
            <a:off x="548640" y="4892040"/>
            <a:ext cx="5394960" cy="1188720"/>
          </a:xfrm>
          <a:prstGeom prst="rect">
            <a:avLst/>
          </a:prstGeom>
          <a:noFill/>
        </p:spPr>
        <p:txBody>
          <a:bodyPr wrap="square" lIns="0" rIns="0" tIns="0" bIns="0" anchor="t">
            <a:spAutoFit/>
          </a:bodyPr>
          <a:lstStyle/>
          <a:p>
            <a:pPr algn="l">
              <a:spcAft>
                <a:spcPts val="600"/>
              </a:spcAft>
            </a:pPr>
            <a:r>
              <a:rPr sz="1250" b="1" i="0">
                <a:solidFill>
                  <a:srgbClr val="14142B"/>
                </a:solidFill>
                <a:latin typeface="Calibri"/>
              </a:rPr>
              <a:t>Then: </a:t>
            </a:r>
            <a:r>
              <a:rPr sz="1250" b="0" i="0">
                <a:solidFill>
                  <a:srgbClr val="14142B"/>
                </a:solidFill>
                <a:latin typeface="Calibri"/>
              </a:rPr>
              <a:t>prefix "Represent this query for searching relevant code:", encode, cosine search. Code snippets get no prefix.</a:t>
            </a:r>
          </a:p>
          <a:p>
            <a:pPr algn="l">
              <a:spcAft>
                <a:spcPts val="600"/>
              </a:spcAft>
            </a:pPr>
            <a:r>
              <a:rPr sz="1250" b="1" i="0">
                <a:solidFill>
                  <a:srgbClr val="14142B"/>
                </a:solidFill>
                <a:latin typeface="Calibri"/>
              </a:rPr>
              <a:t>Also fixed: </a:t>
            </a:r>
            <a:r>
              <a:rPr sz="1250" b="0" i="0">
                <a:solidFill>
                  <a:srgbClr val="14142B"/>
                </a:solidFill>
                <a:latin typeface="Calibri"/>
              </a:rPr>
              <a:t>transformers v5 leaves two NomicBert buffers uninitialised, which silently corrupts embeddings. We rebuild them after every load.</a:t>
            </a:r>
          </a:p>
        </p:txBody>
      </p:sp>
      <p:sp>
        <p:nvSpPr>
          <p:cNvPr id="135" name="TextBox 134"/>
          <p:cNvSpPr txBox="1"/>
          <p:nvPr/>
        </p:nvSpPr>
        <p:spPr>
          <a:xfrm>
            <a:off x="6309360" y="1097280"/>
            <a:ext cx="5303520" cy="320040"/>
          </a:xfrm>
          <a:prstGeom prst="rect">
            <a:avLst/>
          </a:prstGeom>
          <a:noFill/>
        </p:spPr>
        <p:txBody>
          <a:bodyPr wrap="square" lIns="0" rIns="0" tIns="0" bIns="0" anchor="t">
            <a:spAutoFit/>
          </a:bodyPr>
          <a:lstStyle/>
          <a:p>
            <a:pPr algn="l">
              <a:spcAft>
                <a:spcPts val="600"/>
              </a:spcAft>
            </a:pPr>
            <a:r>
              <a:rPr sz="1600" b="1" i="0">
                <a:solidFill>
                  <a:srgbClr val="6D28D9"/>
                </a:solidFill>
                <a:latin typeface="Calibri"/>
              </a:rPr>
              <a:t>Fine-tuning the embedding model</a:t>
            </a:r>
          </a:p>
        </p:txBody>
      </p:sp>
      <p:graphicFrame>
        <p:nvGraphicFramePr>
          <p:cNvPr id="136" name="Table 135"/>
          <p:cNvGraphicFramePr>
            <a:graphicFrameLocks noGrp="1"/>
          </p:cNvGraphicFramePr>
          <p:nvPr/>
        </p:nvGraphicFramePr>
        <p:xfrm>
          <a:off x="6309360" y="1463040"/>
          <a:ext cx="5303520" cy="2432304"/>
        </p:xfrm>
        <a:graphic>
          <a:graphicData uri="http://schemas.openxmlformats.org/drawingml/2006/table">
            <a:tbl>
              <a:tblPr firstRow="0" bandRow="0"/>
              <a:tblGrid>
                <a:gridCol w="1463040"/>
                <a:gridCol w="3840480"/>
              </a:tblGrid>
              <a:tr h="347472">
                <a:tc>
                  <a:txBody>
                    <a:bodyPr wrap="square"/>
                    <a:lstStyle/>
                    <a:p>
                      <a:r>
                        <a:rPr sz="1200" b="1">
                          <a:solidFill>
                            <a:srgbClr val="FFFFFF"/>
                          </a:solidFill>
                          <a:latin typeface="Calibri"/>
                        </a:rPr>
                        <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200" b="1">
                          <a:solidFill>
                            <a:srgbClr val="FFFFFF"/>
                          </a:solidFill>
                          <a:latin typeface="Calibri"/>
                        </a:rPr>
                        <a:t>Setting</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r>
              <a:tr h="347472">
                <a:tc>
                  <a:txBody>
                    <a:bodyPr wrap="square"/>
                    <a:lstStyle/>
                    <a:p>
                      <a:r>
                        <a:rPr sz="1200" b="0">
                          <a:solidFill>
                            <a:srgbClr val="14142B"/>
                          </a:solidFill>
                          <a:latin typeface="Calibri"/>
                        </a:rPr>
                        <a:t>Base model</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200" b="0">
                          <a:solidFill>
                            <a:srgbClr val="14142B"/>
                          </a:solidFill>
                          <a:latin typeface="Calibri"/>
                        </a:rPr>
                        <a:t>nomic-ai/CodeRankEmbed (137M, MIT, CLS pooling)</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r>
              <a:tr h="347472">
                <a:tc>
                  <a:txBody>
                    <a:bodyPr wrap="square"/>
                    <a:lstStyle/>
                    <a:p>
                      <a:r>
                        <a:rPr sz="1200" b="0">
                          <a:solidFill>
                            <a:srgbClr val="14142B"/>
                          </a:solidFill>
                          <a:latin typeface="Calibri"/>
                        </a:rPr>
                        <a:t>Training data</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200" b="0">
                          <a:solidFill>
                            <a:srgbClr val="14142B"/>
                          </a:solidFill>
                          <a:latin typeface="Calibri"/>
                        </a:rPr>
                        <a:t>4,500 APPS train pairs (question → solution)</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r>
              <a:tr h="347472">
                <a:tc>
                  <a:txBody>
                    <a:bodyPr wrap="square"/>
                    <a:lstStyle/>
                    <a:p>
                      <a:r>
                        <a:rPr sz="1200" b="0">
                          <a:solidFill>
                            <a:srgbClr val="14142B"/>
                          </a:solidFill>
                          <a:latin typeface="Calibri"/>
                        </a:rPr>
                        <a:t>Validation</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200" b="0">
                          <a:solidFill>
                            <a:srgbClr val="14142B"/>
                          </a:solidFill>
                          <a:latin typeface="Calibri"/>
                        </a:rPr>
                        <a:t>500 held-out train queries over 5,000 docs</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r>
              <a:tr h="347472">
                <a:tc>
                  <a:txBody>
                    <a:bodyPr wrap="square"/>
                    <a:lstStyle/>
                    <a:p>
                      <a:r>
                        <a:rPr sz="1200" b="0">
                          <a:solidFill>
                            <a:srgbClr val="14142B"/>
                          </a:solidFill>
                          <a:latin typeface="Calibri"/>
                        </a:rPr>
                        <a:t>Loss</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200" b="0">
                          <a:solidFill>
                            <a:srgbClr val="14142B"/>
                          </a:solidFill>
                          <a:latin typeface="Calibri"/>
                        </a:rPr>
                        <a:t>CachedMultipleNegativesRankingLoss, batch 128</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r>
              <a:tr h="347472">
                <a:tc>
                  <a:txBody>
                    <a:bodyPr wrap="square"/>
                    <a:lstStyle/>
                    <a:p>
                      <a:r>
                        <a:rPr sz="1200" b="0">
                          <a:solidFill>
                            <a:srgbClr val="14142B"/>
                          </a:solidFill>
                          <a:latin typeface="Calibri"/>
                        </a:rPr>
                        <a:t>Schedule</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200" b="0">
                          <a:solidFill>
                            <a:srgbClr val="14142B"/>
                          </a:solidFill>
                          <a:latin typeface="Calibri"/>
                        </a:rPr>
                        <a:t>lr 2e-5, 2 epochs, max length 512</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r>
              <a:tr h="347472">
                <a:tc>
                  <a:txBody>
                    <a:bodyPr wrap="square"/>
                    <a:lstStyle/>
                    <a:p>
                      <a:r>
                        <a:rPr sz="1200" b="0">
                          <a:solidFill>
                            <a:srgbClr val="14142B"/>
                          </a:solidFill>
                          <a:latin typeface="Calibri"/>
                        </a:rPr>
                        <a:t>Test data used</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200" b="1">
                          <a:solidFill>
                            <a:srgbClr val="0E8A62"/>
                          </a:solidFill>
                          <a:latin typeface="Calibri"/>
                        </a:rPr>
                        <a:t>None (no test queries or qrels)</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r>
            </a:tbl>
          </a:graphicData>
        </a:graphic>
      </p:graphicFrame>
      <p:sp>
        <p:nvSpPr>
          <p:cNvPr id="137" name="TextBox 136"/>
          <p:cNvSpPr txBox="1"/>
          <p:nvPr/>
        </p:nvSpPr>
        <p:spPr>
          <a:xfrm>
            <a:off x="6309360" y="4069080"/>
            <a:ext cx="5303520" cy="320040"/>
          </a:xfrm>
          <a:prstGeom prst="rect">
            <a:avLst/>
          </a:prstGeom>
          <a:noFill/>
        </p:spPr>
        <p:txBody>
          <a:bodyPr wrap="square" lIns="0" rIns="0" tIns="0" bIns="0" anchor="t">
            <a:spAutoFit/>
          </a:bodyPr>
          <a:lstStyle/>
          <a:p>
            <a:pPr algn="l">
              <a:spcAft>
                <a:spcPts val="600"/>
              </a:spcAft>
            </a:pPr>
            <a:r>
              <a:rPr sz="1400" b="1" i="0">
                <a:solidFill>
                  <a:srgbClr val="14142B"/>
                </a:solidFill>
                <a:latin typeface="Calibri"/>
              </a:rPr>
              <a:t>Effect on the test split (CPU)</a:t>
            </a:r>
          </a:p>
        </p:txBody>
      </p:sp>
      <p:graphicFrame>
        <p:nvGraphicFramePr>
          <p:cNvPr id="138" name="Table 137"/>
          <p:cNvGraphicFramePr>
            <a:graphicFrameLocks noGrp="1"/>
          </p:cNvGraphicFramePr>
          <p:nvPr/>
        </p:nvGraphicFramePr>
        <p:xfrm>
          <a:off x="6309360" y="4434840"/>
          <a:ext cx="5303520" cy="1463040"/>
        </p:xfrm>
        <a:graphic>
          <a:graphicData uri="http://schemas.openxmlformats.org/drawingml/2006/table">
            <a:tbl>
              <a:tblPr firstRow="0" bandRow="0"/>
              <a:tblGrid>
                <a:gridCol w="2743200"/>
                <a:gridCol w="1280160"/>
                <a:gridCol w="1280160"/>
              </a:tblGrid>
              <a:tr h="365760">
                <a:tc>
                  <a:txBody>
                    <a:bodyPr wrap="square"/>
                    <a:lstStyle/>
                    <a:p>
                      <a:r>
                        <a:rPr sz="1250" b="1">
                          <a:solidFill>
                            <a:srgbClr val="FFFFFF"/>
                          </a:solidFill>
                          <a:latin typeface="Calibri"/>
                        </a:rPr>
                        <a:t>Model</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250" b="1">
                          <a:solidFill>
                            <a:srgbClr val="FFFFFF"/>
                          </a:solidFill>
                          <a:latin typeface="Calibri"/>
                        </a:rPr>
                        <a:t>NDCG@10</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250" b="1">
                          <a:solidFill>
                            <a:srgbClr val="FFFFFF"/>
                          </a:solidFill>
                          <a:latin typeface="Calibri"/>
                        </a:rPr>
                        <a:t>MRR@10</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r>
              <a:tr h="365760">
                <a:tc>
                  <a:txBody>
                    <a:bodyPr wrap="square"/>
                    <a:lstStyle/>
                    <a:p>
                      <a:r>
                        <a:rPr sz="1250" b="0">
                          <a:solidFill>
                            <a:srgbClr val="14142B"/>
                          </a:solidFill>
                          <a:latin typeface="Calibri"/>
                        </a:rPr>
                        <a:t>BM25 (keywords)</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250" b="0">
                          <a:solidFill>
                            <a:srgbClr val="14142B"/>
                          </a:solidFill>
                          <a:latin typeface="Calibri"/>
                        </a:rPr>
                        <a:t>0.056</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250" b="0">
                          <a:solidFill>
                            <a:srgbClr val="14142B"/>
                          </a:solidFill>
                          <a:latin typeface="Calibri"/>
                        </a:rPr>
                        <a:t>—</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r>
              <a:tr h="365760">
                <a:tc>
                  <a:txBody>
                    <a:bodyPr wrap="square"/>
                    <a:lstStyle/>
                    <a:p>
                      <a:r>
                        <a:rPr sz="1250" b="0">
                          <a:solidFill>
                            <a:srgbClr val="14142B"/>
                          </a:solidFill>
                          <a:latin typeface="Calibri"/>
                        </a:rPr>
                        <a:t>Base CodeRankEmbed</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250" b="0">
                          <a:solidFill>
                            <a:srgbClr val="14142B"/>
                          </a:solidFill>
                          <a:latin typeface="Calibri"/>
                        </a:rPr>
                        <a:t>0.237</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250" b="0">
                          <a:solidFill>
                            <a:srgbClr val="14142B"/>
                          </a:solidFill>
                          <a:latin typeface="Calibri"/>
                        </a:rPr>
                        <a:t>0.207</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r>
              <a:tr h="365760">
                <a:tc>
                  <a:txBody>
                    <a:bodyPr wrap="square"/>
                    <a:lstStyle/>
                    <a:p>
                      <a:r>
                        <a:rPr sz="1250" b="0">
                          <a:solidFill>
                            <a:srgbClr val="14142B"/>
                          </a:solidFill>
                          <a:latin typeface="Calibri"/>
                        </a:rPr>
                        <a:t>Ours: fine-tuned + desc-io</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250" b="1">
                          <a:solidFill>
                            <a:srgbClr val="0E8A62"/>
                          </a:solidFill>
                          <a:latin typeface="Calibri"/>
                        </a:rPr>
                        <a:t>0.472</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250" b="1">
                          <a:solidFill>
                            <a:srgbClr val="0E8A62"/>
                          </a:solidFill>
                          <a:latin typeface="Calibri"/>
                        </a:rPr>
                        <a:t>0.432</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5"/>
          <p:cNvSpPr txBox="1"/>
          <p:nvPr>
            <p:ph type="title"/>
          </p:nvPr>
        </p:nvSpPr>
        <p:spPr>
          <a:xfrm>
            <a:off x="548640" y="320040"/>
            <a:ext cx="11064240" cy="731520"/>
          </a:xfrm>
          <a:prstGeom prst="rect">
            <a:avLst/>
          </a:prstGeom>
          <a:noFill/>
          <a:ln>
            <a:noFill/>
          </a:ln>
        </p:spPr>
        <p:txBody>
          <a:bodyPr anchorCtr="0" anchor="ctr" bIns="45700" lIns="91425" spcFirstLastPara="1" rIns="91425" wrap="square" tIns="45700"/>
          <a:lstStyle/>
          <a:p>
            <a:pPr indent="0" lvl="0" marL="0" rtl="0" algn="l">
              <a:lnSpc>
                <a:spcPct val="90000"/>
              </a:lnSpc>
              <a:spcBef>
                <a:spcPts val="0"/>
              </a:spcBef>
              <a:spcAft>
                <a:spcPts val="0"/>
              </a:spcAft>
              <a:buClr>
                <a:srgbClr val="704EA6"/>
              </a:buClr>
              <a:buSzPts val="4400"/>
              <a:buFont typeface="Calibri"/>
              <a:buNone/>
            </a:pPr>
            <a:r>
              <a:rPr b="1" lang="en-US" sz="3000">
                <a:solidFill>
                  <a:srgbClr val="704EA6"/>
                </a:solidFill>
                <a:latin typeface="Calibri"/>
                <a:ea typeface="Calibri"/>
                <a:cs typeface="Calibri"/>
                <a:sym typeface="Calibri"/>
              </a:rPr>
              <a:t>Demo &amp; Product Walkthrough</a:t>
            </a:r>
            <a:endParaRPr/>
          </a:p>
        </p:txBody>
      </p:sp>
      <p:sp>
        <p:nvSpPr>
          <p:cNvPr id="120" name="TextBox 119"/>
          <p:cNvSpPr txBox="1"/>
          <p:nvPr/>
        </p:nvSpPr>
        <p:spPr>
          <a:xfrm>
            <a:off x="548640" y="1097280"/>
            <a:ext cx="5486400" cy="274320"/>
          </a:xfrm>
          <a:prstGeom prst="rect">
            <a:avLst/>
          </a:prstGeom>
          <a:noFill/>
        </p:spPr>
        <p:txBody>
          <a:bodyPr wrap="square" lIns="0" rIns="0" tIns="0" bIns="0" anchor="t">
            <a:spAutoFit/>
          </a:bodyPr>
          <a:lstStyle/>
          <a:p>
            <a:pPr algn="l">
              <a:spcAft>
                <a:spcPts val="600"/>
              </a:spcAft>
            </a:pPr>
            <a:r>
              <a:rPr sz="1400" b="1" i="0">
                <a:solidFill>
                  <a:srgbClr val="6D28D9"/>
                </a:solidFill>
                <a:latin typeface="Calibri"/>
              </a:rPr>
              <a:t>P0 · APPS corpus (8,765 Python solutions)</a:t>
            </a:r>
          </a:p>
        </p:txBody>
      </p:sp>
      <p:pic>
        <p:nvPicPr>
          <p:cNvPr id="121" name="Picture 120" descr="demo_apps.png"/>
          <p:cNvPicPr>
            <a:picLocks noChangeAspect="1"/>
          </p:cNvPicPr>
          <p:nvPr/>
        </p:nvPicPr>
        <p:blipFill>
          <a:blip r:embed="rId3"/>
          <a:stretch>
            <a:fillRect/>
          </a:stretch>
        </p:blipFill>
        <p:spPr>
          <a:xfrm>
            <a:off x="548640" y="1463040"/>
            <a:ext cx="5577840" cy="2973252"/>
          </a:xfrm>
          <a:prstGeom prst="rect">
            <a:avLst/>
          </a:prstGeom>
        </p:spPr>
      </p:pic>
      <p:sp>
        <p:nvSpPr>
          <p:cNvPr id="122" name="Rectangle 121"/>
          <p:cNvSpPr/>
          <p:nvPr/>
        </p:nvSpPr>
        <p:spPr>
          <a:xfrm>
            <a:off x="548640" y="1463040"/>
            <a:ext cx="5577840" cy="2973252"/>
          </a:xfrm>
          <a:prstGeom prst="rect">
            <a:avLst/>
          </a:prstGeom>
          <a:noFill/>
          <a:ln w="12700">
            <a:solidFill>
              <a:srgbClr val="C9C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ounded Rectangle 122"/>
          <p:cNvSpPr/>
          <p:nvPr/>
        </p:nvSpPr>
        <p:spPr>
          <a:xfrm>
            <a:off x="3421347" y="4144233"/>
            <a:ext cx="1828800" cy="310896"/>
          </a:xfrm>
          <a:prstGeom prst="roundRect">
            <a:avLst>
              <a:gd name="adj" fmla="val 50000"/>
            </a:avLst>
          </a:prstGeom>
          <a:solidFill>
            <a:srgbClr val="0E8A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28 ms on CPU</a:t>
            </a:r>
          </a:p>
        </p:txBody>
      </p:sp>
      <p:sp>
        <p:nvSpPr>
          <p:cNvPr id="124" name="TextBox 123"/>
          <p:cNvSpPr txBox="1"/>
          <p:nvPr/>
        </p:nvSpPr>
        <p:spPr>
          <a:xfrm>
            <a:off x="548640" y="4619172"/>
            <a:ext cx="5577840" cy="1097280"/>
          </a:xfrm>
          <a:prstGeom prst="rect">
            <a:avLst/>
          </a:prstGeom>
          <a:noFill/>
        </p:spPr>
        <p:txBody>
          <a:bodyPr wrap="square" lIns="0" rIns="0" tIns="0" bIns="0" anchor="t">
            <a:spAutoFit/>
          </a:bodyPr>
          <a:lstStyle/>
          <a:p>
            <a:pPr algn="l">
              <a:spcAft>
                <a:spcPts val="400"/>
              </a:spcAft>
            </a:pPr>
            <a:r>
              <a:rPr sz="1300" b="1" i="0">
                <a:solidFill>
                  <a:srgbClr val="6D28D9"/>
                </a:solidFill>
                <a:latin typeface="Calibri"/>
              </a:rPr>
              <a:t>1. </a:t>
            </a:r>
            <a:r>
              <a:rPr sz="1300" b="0" i="0">
                <a:solidFill>
                  <a:srgbClr val="14142B"/>
                </a:solidFill>
                <a:latin typeface="Calibri"/>
              </a:rPr>
              <a:t>Type the problem in plain English, pick top-k.</a:t>
            </a:r>
          </a:p>
          <a:p>
            <a:pPr algn="l">
              <a:spcAft>
                <a:spcPts val="400"/>
              </a:spcAft>
            </a:pPr>
            <a:r>
              <a:rPr sz="1300" b="1" i="0">
                <a:solidFill>
                  <a:srgbClr val="6D28D9"/>
                </a:solidFill>
                <a:latin typeface="Calibri"/>
              </a:rPr>
              <a:t>2. </a:t>
            </a:r>
            <a:r>
              <a:rPr sz="1300" b="0" i="0">
                <a:solidFill>
                  <a:srgbClr val="14142B"/>
                </a:solidFill>
                <a:latin typeface="Calibri"/>
              </a:rPr>
              <a:t>Query is cleaned and encoded on CPU (27 ms); search takes 0.4 ms.</a:t>
            </a:r>
          </a:p>
          <a:p>
            <a:pPr algn="l">
              <a:spcAft>
                <a:spcPts val="400"/>
              </a:spcAft>
            </a:pPr>
            <a:r>
              <a:rPr sz="1100" b="0" i="1">
                <a:solidFill>
                  <a:srgbClr val="55556E"/>
                </a:solidFill>
                <a:latin typeface="Calibri"/>
              </a:rPr>
              <a:t>Demo searches the full APPS corpus; our scores are on the held-out test split only.</a:t>
            </a:r>
          </a:p>
        </p:txBody>
      </p:sp>
      <p:sp>
        <p:nvSpPr>
          <p:cNvPr id="125" name="TextBox 124"/>
          <p:cNvSpPr txBox="1"/>
          <p:nvPr/>
        </p:nvSpPr>
        <p:spPr>
          <a:xfrm>
            <a:off x="6400800" y="1097280"/>
            <a:ext cx="5212080" cy="274320"/>
          </a:xfrm>
          <a:prstGeom prst="rect">
            <a:avLst/>
          </a:prstGeom>
          <a:noFill/>
        </p:spPr>
        <p:txBody>
          <a:bodyPr wrap="square" lIns="0" rIns="0" tIns="0" bIns="0" anchor="t">
            <a:spAutoFit/>
          </a:bodyPr>
          <a:lstStyle/>
          <a:p>
            <a:pPr algn="l">
              <a:spcAft>
                <a:spcPts val="600"/>
              </a:spcAft>
            </a:pPr>
            <a:r>
              <a:rPr sz="1400" b="1" i="0">
                <a:solidFill>
                  <a:srgbClr val="6D28D9"/>
                </a:solidFill>
                <a:latin typeface="Calibri"/>
              </a:rPr>
              <a:t>Tough query: intent, not keywords</a:t>
            </a:r>
          </a:p>
        </p:txBody>
      </p:sp>
      <p:pic>
        <p:nvPicPr>
          <p:cNvPr id="126" name="Picture 125" descr="kadane.png"/>
          <p:cNvPicPr>
            <a:picLocks noChangeAspect="1"/>
          </p:cNvPicPr>
          <p:nvPr/>
        </p:nvPicPr>
        <p:blipFill>
          <a:blip r:embed="rId4"/>
          <a:stretch>
            <a:fillRect/>
          </a:stretch>
        </p:blipFill>
        <p:spPr>
          <a:xfrm>
            <a:off x="6400800" y="1463040"/>
            <a:ext cx="5212080" cy="3566160"/>
          </a:xfrm>
          <a:prstGeom prst="rect">
            <a:avLst/>
          </a:prstGeom>
        </p:spPr>
      </p:pic>
      <p:sp>
        <p:nvSpPr>
          <p:cNvPr id="127" name="Rectangle 126"/>
          <p:cNvSpPr/>
          <p:nvPr/>
        </p:nvSpPr>
        <p:spPr>
          <a:xfrm>
            <a:off x="6400800" y="1463040"/>
            <a:ext cx="5212080" cy="3566160"/>
          </a:xfrm>
          <a:prstGeom prst="rect">
            <a:avLst/>
          </a:prstGeom>
          <a:noFill/>
          <a:ln w="12700">
            <a:solidFill>
              <a:srgbClr val="C9C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ectangle 127"/>
          <p:cNvSpPr/>
          <p:nvPr/>
        </p:nvSpPr>
        <p:spPr>
          <a:xfrm>
            <a:off x="6922008" y="2796235"/>
            <a:ext cx="3840480" cy="1014984"/>
          </a:xfrm>
          <a:prstGeom prst="rect">
            <a:avLst/>
          </a:prstGeom>
          <a:noFill/>
          <a:ln w="12700">
            <a:solidFill>
              <a:srgbClr val="0E8A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ounded Rectangle 128"/>
          <p:cNvSpPr/>
          <p:nvPr/>
        </p:nvSpPr>
        <p:spPr>
          <a:xfrm>
            <a:off x="8705088" y="2878531"/>
            <a:ext cx="1965960" cy="274320"/>
          </a:xfrm>
          <a:prstGeom prst="roundRect">
            <a:avLst>
              <a:gd name="adj" fmla="val 50000"/>
            </a:avLst>
          </a:prstGeom>
          <a:solidFill>
            <a:srgbClr val="0E8A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Calibri"/>
              </a:rPr>
              <a:t>#1 (0.72): Kadane's, O(n)</a:t>
            </a:r>
          </a:p>
        </p:txBody>
      </p:sp>
      <p:sp>
        <p:nvSpPr>
          <p:cNvPr id="130" name="TextBox 129"/>
          <p:cNvSpPr txBox="1"/>
          <p:nvPr/>
        </p:nvSpPr>
        <p:spPr>
          <a:xfrm>
            <a:off x="6400800" y="5166360"/>
            <a:ext cx="5212080" cy="1188720"/>
          </a:xfrm>
          <a:prstGeom prst="rect">
            <a:avLst/>
          </a:prstGeom>
          <a:noFill/>
        </p:spPr>
        <p:txBody>
          <a:bodyPr wrap="square" lIns="0" rIns="0" tIns="0" bIns="0" anchor="t">
            <a:spAutoFit/>
          </a:bodyPr>
          <a:lstStyle/>
          <a:p>
            <a:pPr algn="l">
              <a:spcAft>
                <a:spcPts val="400"/>
              </a:spcAft>
            </a:pPr>
            <a:r>
              <a:rPr sz="1250" b="1" i="0">
                <a:solidFill>
                  <a:srgbClr val="14142B"/>
                </a:solidFill>
                <a:latin typeface="Calibri"/>
              </a:rPr>
              <a:t>Query: </a:t>
            </a:r>
            <a:r>
              <a:rPr sz="1250" b="0" i="1">
                <a:solidFill>
                  <a:srgbClr val="14142B"/>
                </a:solidFill>
                <a:latin typeface="Calibri"/>
              </a:rPr>
              <a:t>"find the maximum sum of a contiguous subarray"</a:t>
            </a:r>
          </a:p>
          <a:p>
            <a:pPr algn="l">
              <a:spcAft>
                <a:spcPts val="400"/>
              </a:spcAft>
            </a:pPr>
            <a:r>
              <a:rPr sz="1250" b="0" i="0">
                <a:solidFill>
                  <a:srgbClr val="14142B"/>
                </a:solidFill>
                <a:latin typeface="Calibri"/>
              </a:rPr>
              <a:t>The code never says "contiguous" or "subarray" (just csum, max_sum), so keyword search misses it. #2 (0.69) is a harder variant of the same problem.</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5"/>
          <p:cNvSpPr txBox="1"/>
          <p:nvPr>
            <p:ph type="title"/>
          </p:nvPr>
        </p:nvSpPr>
        <p:spPr>
          <a:xfrm>
            <a:off x="548640" y="320040"/>
            <a:ext cx="11064240" cy="731520"/>
          </a:xfrm>
          <a:prstGeom prst="rect">
            <a:avLst/>
          </a:prstGeom>
          <a:noFill/>
          <a:ln>
            <a:noFill/>
          </a:ln>
        </p:spPr>
        <p:txBody>
          <a:bodyPr anchorCtr="0" anchor="ctr" bIns="45700" lIns="91425" spcFirstLastPara="1" rIns="91425" wrap="square" tIns="45700"/>
          <a:lstStyle/>
          <a:p>
            <a:pPr indent="0" lvl="0" marL="0" rtl="0" algn="l">
              <a:lnSpc>
                <a:spcPct val="90000"/>
              </a:lnSpc>
              <a:spcBef>
                <a:spcPts val="0"/>
              </a:spcBef>
              <a:spcAft>
                <a:spcPts val="0"/>
              </a:spcAft>
              <a:buClr>
                <a:srgbClr val="704EA6"/>
              </a:buClr>
              <a:buSzPts val="4400"/>
              <a:buFont typeface="Calibri"/>
              <a:buNone/>
            </a:pPr>
            <a:r>
              <a:rPr b="1" lang="en-US" sz="3000">
                <a:solidFill>
                  <a:srgbClr val="704EA6"/>
                </a:solidFill>
                <a:latin typeface="Calibri"/>
                <a:ea typeface="Calibri"/>
                <a:cs typeface="Calibri"/>
                <a:sym typeface="Calibri"/>
              </a:rPr>
              <a:t>Demo &amp; Product Walkthrough (contd.)</a:t>
            </a:r>
            <a:endParaRPr/>
          </a:p>
        </p:txBody>
      </p:sp>
      <p:sp>
        <p:nvSpPr>
          <p:cNvPr id="120" name="TextBox 119"/>
          <p:cNvSpPr txBox="1"/>
          <p:nvPr/>
        </p:nvSpPr>
        <p:spPr>
          <a:xfrm>
            <a:off x="548640" y="1051560"/>
            <a:ext cx="10972800" cy="320040"/>
          </a:xfrm>
          <a:prstGeom prst="rect">
            <a:avLst/>
          </a:prstGeom>
          <a:noFill/>
        </p:spPr>
        <p:txBody>
          <a:bodyPr wrap="square" lIns="0" rIns="0" tIns="0" bIns="0" anchor="t">
            <a:spAutoFit/>
          </a:bodyPr>
          <a:lstStyle/>
          <a:p>
            <a:pPr algn="l">
              <a:spcAft>
                <a:spcPts val="600"/>
              </a:spcAft>
            </a:pPr>
            <a:r>
              <a:rPr sz="1400" b="1" i="0">
                <a:solidFill>
                  <a:srgbClr val="6D28D9"/>
                </a:solidFill>
                <a:latin typeface="Calibri"/>
              </a:rPr>
              <a:t>P1 · Same question on psf/requests, 11 years apart: </a:t>
            </a:r>
            <a:r>
              <a:rPr sz="1400" b="0" i="1">
                <a:solidFill>
                  <a:srgbClr val="14142B"/>
                </a:solidFill>
                <a:latin typeface="Calibri"/>
              </a:rPr>
              <a:t>"get proxy settings from environment variables"</a:t>
            </a:r>
          </a:p>
        </p:txBody>
      </p:sp>
      <p:pic>
        <p:nvPicPr>
          <p:cNvPr id="121" name="Picture 120" descr="picker_v200.png"/>
          <p:cNvPicPr>
            <a:picLocks noChangeAspect="1"/>
          </p:cNvPicPr>
          <p:nvPr/>
        </p:nvPicPr>
        <p:blipFill>
          <a:blip r:embed="rId2"/>
          <a:stretch>
            <a:fillRect/>
          </a:stretch>
        </p:blipFill>
        <p:spPr>
          <a:xfrm>
            <a:off x="548640" y="1463040"/>
            <a:ext cx="3291840" cy="897774"/>
          </a:xfrm>
          <a:prstGeom prst="rect">
            <a:avLst/>
          </a:prstGeom>
        </p:spPr>
      </p:pic>
      <p:sp>
        <p:nvSpPr>
          <p:cNvPr id="122" name="Rectangle 121"/>
          <p:cNvSpPr/>
          <p:nvPr/>
        </p:nvSpPr>
        <p:spPr>
          <a:xfrm>
            <a:off x="548640" y="1463040"/>
            <a:ext cx="3291840" cy="897774"/>
          </a:xfrm>
          <a:prstGeom prst="rect">
            <a:avLst/>
          </a:prstGeom>
          <a:noFill/>
          <a:ln w="12700">
            <a:solidFill>
              <a:srgbClr val="C9C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Box 122"/>
          <p:cNvSpPr txBox="1"/>
          <p:nvPr/>
        </p:nvSpPr>
        <p:spPr>
          <a:xfrm>
            <a:off x="3977639" y="1463040"/>
            <a:ext cx="2011680" cy="822960"/>
          </a:xfrm>
          <a:prstGeom prst="rect">
            <a:avLst/>
          </a:prstGeom>
          <a:noFill/>
        </p:spPr>
        <p:txBody>
          <a:bodyPr wrap="square" lIns="0" rIns="0" tIns="0" bIns="0" anchor="t">
            <a:spAutoFit/>
          </a:bodyPr>
          <a:lstStyle/>
          <a:p>
            <a:pPr algn="l">
              <a:spcAft>
                <a:spcPts val="600"/>
              </a:spcAft>
            </a:pPr>
            <a:r>
              <a:rPr sz="1150" b="0" i="0">
                <a:solidFill>
                  <a:srgbClr val="55556E"/>
                </a:solidFill>
                <a:latin typeface="Calibri"/>
              </a:rPr>
              <a:t>Pick the source and any indexed commit.</a:t>
            </a:r>
          </a:p>
        </p:txBody>
      </p:sp>
      <p:sp>
        <p:nvSpPr>
          <p:cNvPr id="124" name="TextBox 123"/>
          <p:cNvSpPr txBox="1"/>
          <p:nvPr/>
        </p:nvSpPr>
        <p:spPr>
          <a:xfrm>
            <a:off x="548640" y="2697480"/>
            <a:ext cx="5394960" cy="274320"/>
          </a:xfrm>
          <a:prstGeom prst="rect">
            <a:avLst/>
          </a:prstGeom>
          <a:noFill/>
        </p:spPr>
        <p:txBody>
          <a:bodyPr wrap="square" lIns="0" rIns="0" tIns="0" bIns="0" anchor="t">
            <a:spAutoFit/>
          </a:bodyPr>
          <a:lstStyle/>
          <a:p>
            <a:pPr algn="l">
              <a:spcAft>
                <a:spcPts val="600"/>
              </a:spcAft>
            </a:pPr>
            <a:r>
              <a:rPr sz="1400" b="1" i="0">
                <a:solidFill>
                  <a:srgbClr val="B45309"/>
                </a:solidFill>
                <a:latin typeface="Calibri"/>
              </a:rPr>
              <a:t>v2.0.0 · 2013</a:t>
            </a:r>
          </a:p>
        </p:txBody>
      </p:sp>
      <p:pic>
        <p:nvPicPr>
          <p:cNvPr id="125" name="Picture 124" descr="v200.png"/>
          <p:cNvPicPr>
            <a:picLocks noChangeAspect="1"/>
          </p:cNvPicPr>
          <p:nvPr/>
        </p:nvPicPr>
        <p:blipFill>
          <a:blip r:embed="rId3"/>
          <a:stretch>
            <a:fillRect/>
          </a:stretch>
        </p:blipFill>
        <p:spPr>
          <a:xfrm>
            <a:off x="548640" y="3017520"/>
            <a:ext cx="5394960" cy="2907284"/>
          </a:xfrm>
          <a:prstGeom prst="rect">
            <a:avLst/>
          </a:prstGeom>
        </p:spPr>
      </p:pic>
      <p:sp>
        <p:nvSpPr>
          <p:cNvPr id="126" name="Rectangle 125"/>
          <p:cNvSpPr/>
          <p:nvPr/>
        </p:nvSpPr>
        <p:spPr>
          <a:xfrm>
            <a:off x="548640" y="3017520"/>
            <a:ext cx="5394960" cy="2907284"/>
          </a:xfrm>
          <a:prstGeom prst="rect">
            <a:avLst/>
          </a:prstGeom>
          <a:noFill/>
          <a:ln w="12700">
            <a:solidFill>
              <a:srgbClr val="C9C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Box 126"/>
          <p:cNvSpPr txBox="1"/>
          <p:nvPr/>
        </p:nvSpPr>
        <p:spPr>
          <a:xfrm>
            <a:off x="6263640" y="1463040"/>
            <a:ext cx="5349240" cy="274320"/>
          </a:xfrm>
          <a:prstGeom prst="rect">
            <a:avLst/>
          </a:prstGeom>
          <a:noFill/>
        </p:spPr>
        <p:txBody>
          <a:bodyPr wrap="square" lIns="0" rIns="0" tIns="0" bIns="0" anchor="t">
            <a:spAutoFit/>
          </a:bodyPr>
          <a:lstStyle/>
          <a:p>
            <a:pPr algn="l">
              <a:spcAft>
                <a:spcPts val="600"/>
              </a:spcAft>
            </a:pPr>
            <a:r>
              <a:rPr sz="1400" b="1" i="0">
                <a:solidFill>
                  <a:srgbClr val="0E8A62"/>
                </a:solidFill>
                <a:latin typeface="Calibri"/>
              </a:rPr>
              <a:t>v2.32.3 · 2024</a:t>
            </a:r>
          </a:p>
        </p:txBody>
      </p:sp>
      <p:pic>
        <p:nvPicPr>
          <p:cNvPr id="128" name="Picture 127" descr="v2323.png"/>
          <p:cNvPicPr>
            <a:picLocks noChangeAspect="1"/>
          </p:cNvPicPr>
          <p:nvPr/>
        </p:nvPicPr>
        <p:blipFill>
          <a:blip r:embed="rId4"/>
          <a:stretch>
            <a:fillRect/>
          </a:stretch>
        </p:blipFill>
        <p:spPr>
          <a:xfrm>
            <a:off x="6263640" y="1783080"/>
            <a:ext cx="5349240" cy="2123236"/>
          </a:xfrm>
          <a:prstGeom prst="rect">
            <a:avLst/>
          </a:prstGeom>
        </p:spPr>
      </p:pic>
      <p:sp>
        <p:nvSpPr>
          <p:cNvPr id="129" name="Rectangle 128"/>
          <p:cNvSpPr/>
          <p:nvPr/>
        </p:nvSpPr>
        <p:spPr>
          <a:xfrm>
            <a:off x="6263640" y="1783080"/>
            <a:ext cx="5349240" cy="2123236"/>
          </a:xfrm>
          <a:prstGeom prst="rect">
            <a:avLst/>
          </a:prstGeom>
          <a:noFill/>
          <a:ln w="12700">
            <a:solidFill>
              <a:srgbClr val="C9C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130" name="Table 129"/>
          <p:cNvGraphicFramePr>
            <a:graphicFrameLocks noGrp="1"/>
          </p:cNvGraphicFramePr>
          <p:nvPr/>
        </p:nvGraphicFramePr>
        <p:xfrm>
          <a:off x="6263640" y="4089196"/>
          <a:ext cx="5349240" cy="1207008"/>
        </p:xfrm>
        <a:graphic>
          <a:graphicData uri="http://schemas.openxmlformats.org/drawingml/2006/table">
            <a:tbl>
              <a:tblPr firstRow="0" bandRow="0"/>
              <a:tblGrid>
                <a:gridCol w="1417320"/>
                <a:gridCol w="1965960"/>
                <a:gridCol w="1965960"/>
              </a:tblGrid>
              <a:tr h="301752">
                <a:tc>
                  <a:txBody>
                    <a:bodyPr wrap="square"/>
                    <a:lstStyle/>
                    <a:p>
                      <a:r>
                        <a:rPr sz="1150" b="1">
                          <a:solidFill>
                            <a:srgbClr val="FFFFFF"/>
                          </a:solidFill>
                          <a:latin typeface="Calibri"/>
                        </a:rPr>
                        <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50" b="1">
                          <a:solidFill>
                            <a:srgbClr val="FFFFFF"/>
                          </a:solidFill>
                          <a:latin typeface="Calibri"/>
                        </a:rPr>
                        <a:t>2013</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50" b="1">
                          <a:solidFill>
                            <a:srgbClr val="FFFFFF"/>
                          </a:solidFill>
                          <a:latin typeface="Calibri"/>
                        </a:rPr>
                        <a:t>2024</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r>
              <a:tr h="301752">
                <a:tc>
                  <a:txBody>
                    <a:bodyPr wrap="square"/>
                    <a:lstStyle/>
                    <a:p>
                      <a:r>
                        <a:rPr sz="1150" b="0">
                          <a:solidFill>
                            <a:srgbClr val="14142B"/>
                          </a:solidFill>
                          <a:latin typeface="Calibri"/>
                        </a:rPr>
                        <a:t>#1 file</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50" b="0">
                          <a:solidFill>
                            <a:srgbClr val="14142B"/>
                          </a:solidFill>
                          <a:latin typeface="Calibri"/>
                        </a:rPr>
                        <a:t>requests/utils.py</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50" b="0">
                          <a:solidFill>
                            <a:srgbClr val="14142B"/>
                          </a:solidFill>
                          <a:latin typeface="Calibri"/>
                        </a:rPr>
                        <a:t>src/requests/utils.py</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r>
              <a:tr h="301752">
                <a:tc>
                  <a:txBody>
                    <a:bodyPr wrap="square"/>
                    <a:lstStyle/>
                    <a:p>
                      <a:r>
                        <a:rPr sz="1150" b="0">
                          <a:solidFill>
                            <a:srgbClr val="14142B"/>
                          </a:solidFill>
                          <a:latin typeface="Calibri"/>
                        </a:rPr>
                        <a:t>Lines</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50" b="0">
                          <a:solidFill>
                            <a:srgbClr val="14142B"/>
                          </a:solidFill>
                          <a:latin typeface="Calibri"/>
                        </a:rPr>
                        <a:t>396–425</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50" b="0">
                          <a:solidFill>
                            <a:srgbClr val="14142B"/>
                          </a:solidFill>
                          <a:latin typeface="Calibri"/>
                        </a:rPr>
                        <a:t>826–835</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r>
              <a:tr h="301752">
                <a:tc>
                  <a:txBody>
                    <a:bodyPr wrap="square"/>
                    <a:lstStyle/>
                    <a:p>
                      <a:r>
                        <a:rPr sz="1150" b="0">
                          <a:solidFill>
                            <a:srgbClr val="14142B"/>
                          </a:solidFill>
                          <a:latin typeface="Calibri"/>
                        </a:rPr>
                        <a:t>Score · time (CPU)</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50" b="0">
                          <a:solidFill>
                            <a:srgbClr val="14142B"/>
                          </a:solidFill>
                          <a:latin typeface="Calibri"/>
                        </a:rPr>
                        <a:t>0.573 · 22 ms</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50" b="0">
                          <a:solidFill>
                            <a:srgbClr val="14142B"/>
                          </a:solidFill>
                          <a:latin typeface="Calibri"/>
                        </a:rPr>
                        <a:t>0.611 · 50 ms</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r>
            </a:tbl>
          </a:graphicData>
        </a:graphic>
      </p:graphicFrame>
      <p:sp>
        <p:nvSpPr>
          <p:cNvPr id="131" name="TextBox 130"/>
          <p:cNvSpPr txBox="1"/>
          <p:nvPr/>
        </p:nvSpPr>
        <p:spPr>
          <a:xfrm>
            <a:off x="6263640" y="5415076"/>
            <a:ext cx="5349240" cy="822960"/>
          </a:xfrm>
          <a:prstGeom prst="rect">
            <a:avLst/>
          </a:prstGeom>
          <a:noFill/>
        </p:spPr>
        <p:txBody>
          <a:bodyPr wrap="square" lIns="0" rIns="0" tIns="0" bIns="0" anchor="t">
            <a:spAutoFit/>
          </a:bodyPr>
          <a:lstStyle/>
          <a:p>
            <a:pPr algn="l">
              <a:spcAft>
                <a:spcPts val="600"/>
              </a:spcAft>
            </a:pPr>
            <a:r>
              <a:rPr sz="1250" b="1" i="0">
                <a:solidFill>
                  <a:srgbClr val="6D28D9"/>
                </a:solidFill>
                <a:latin typeface="Calibri"/>
              </a:rPr>
              <a:t>get_environ_proxies(), moved and rewritten: </a:t>
            </a:r>
            <a:r>
              <a:rPr sz="1250" b="0" i="0">
                <a:solidFill>
                  <a:srgbClr val="14142B"/>
                </a:solidFill>
                <a:latin typeface="Calibri"/>
              </a:rPr>
              <a:t>about 30 lines of hand-written parsing in 2013, 10 lines calling should_bypass_proxies() in 2024. Still the top hit, with a GitHub link to that exact commit.</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txBox="1"/>
          <p:nvPr>
            <p:ph type="title"/>
          </p:nvPr>
        </p:nvSpPr>
        <p:spPr>
          <a:xfrm>
            <a:off x="548640" y="320040"/>
            <a:ext cx="11064240" cy="731520"/>
          </a:xfrm>
          <a:prstGeom prst="rect">
            <a:avLst/>
          </a:prstGeom>
          <a:noFill/>
          <a:ln>
            <a:noFill/>
          </a:ln>
        </p:spPr>
        <p:txBody>
          <a:bodyPr anchorCtr="0" anchor="ctr" bIns="45700" lIns="91425" spcFirstLastPara="1" rIns="91425" wrap="square" tIns="45700"/>
          <a:lstStyle/>
          <a:p>
            <a:pPr indent="0" lvl="0" marL="0" rtl="0" algn="l">
              <a:lnSpc>
                <a:spcPct val="90000"/>
              </a:lnSpc>
              <a:spcBef>
                <a:spcPts val="0"/>
              </a:spcBef>
              <a:spcAft>
                <a:spcPts val="0"/>
              </a:spcAft>
              <a:buClr>
                <a:srgbClr val="704EA6"/>
              </a:buClr>
              <a:buSzPts val="4400"/>
              <a:buFont typeface="Calibri"/>
              <a:buNone/>
            </a:pPr>
            <a:r>
              <a:rPr b="1" lang="en-US" sz="3000">
                <a:solidFill>
                  <a:srgbClr val="704EA6"/>
                </a:solidFill>
                <a:latin typeface="Calibri"/>
                <a:ea typeface="Calibri"/>
                <a:cs typeface="Calibri"/>
                <a:sym typeface="Calibri"/>
              </a:rPr>
              <a:t>Tools and tech stack used</a:t>
            </a:r>
            <a:endParaRPr b="1">
              <a:solidFill>
                <a:srgbClr val="704EA6"/>
              </a:solidFill>
            </a:endParaRPr>
          </a:p>
        </p:txBody>
      </p:sp>
      <p:sp>
        <p:nvSpPr>
          <p:cNvPr id="126" name="Rounded Rectangle 125"/>
          <p:cNvSpPr/>
          <p:nvPr/>
        </p:nvSpPr>
        <p:spPr>
          <a:xfrm>
            <a:off x="548640" y="1188720"/>
            <a:ext cx="3520440" cy="2103120"/>
          </a:xfrm>
          <a:prstGeom prst="roundRect">
            <a:avLst>
              <a:gd name="adj" fmla="val 6000"/>
            </a:avLst>
          </a:prstGeom>
          <a:solidFill>
            <a:srgbClr val="F4F0FD"/>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Oval 126"/>
          <p:cNvSpPr/>
          <p:nvPr/>
        </p:nvSpPr>
        <p:spPr>
          <a:xfrm>
            <a:off x="777240" y="1389888"/>
            <a:ext cx="420624" cy="4206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a:t>
            </a:r>
          </a:p>
        </p:txBody>
      </p:sp>
      <p:sp>
        <p:nvSpPr>
          <p:cNvPr id="128" name="TextBox 127"/>
          <p:cNvSpPr txBox="1"/>
          <p:nvPr/>
        </p:nvSpPr>
        <p:spPr>
          <a:xfrm>
            <a:off x="1325880" y="1389888"/>
            <a:ext cx="2560320" cy="420624"/>
          </a:xfrm>
          <a:prstGeom prst="rect">
            <a:avLst/>
          </a:prstGeom>
          <a:noFill/>
        </p:spPr>
        <p:txBody>
          <a:bodyPr wrap="square" lIns="0" rIns="0" tIns="0" bIns="0" anchor="ctr">
            <a:spAutoFit/>
          </a:bodyPr>
          <a:lstStyle/>
          <a:p>
            <a:pPr algn="l">
              <a:spcAft>
                <a:spcPts val="600"/>
              </a:spcAft>
            </a:pPr>
            <a:r>
              <a:rPr sz="1700" b="1" i="0">
                <a:solidFill>
                  <a:srgbClr val="14142B"/>
                </a:solidFill>
                <a:latin typeface="Calibri"/>
              </a:rPr>
              <a:t>Model</a:t>
            </a:r>
          </a:p>
        </p:txBody>
      </p:sp>
      <p:sp>
        <p:nvSpPr>
          <p:cNvPr id="129" name="TextBox 128"/>
          <p:cNvSpPr txBox="1"/>
          <p:nvPr/>
        </p:nvSpPr>
        <p:spPr>
          <a:xfrm>
            <a:off x="822959" y="1993392"/>
            <a:ext cx="3063240" cy="1280160"/>
          </a:xfrm>
          <a:prstGeom prst="rect">
            <a:avLst/>
          </a:prstGeom>
          <a:noFill/>
        </p:spPr>
        <p:txBody>
          <a:bodyPr wrap="square" lIns="0" rIns="0" tIns="0" bIns="0" anchor="t">
            <a:spAutoFit/>
          </a:bodyPr>
          <a:lstStyle/>
          <a:p>
            <a:pPr algn="l" marL="201168" indent="-201168">
              <a:spcAft>
                <a:spcPts val="300"/>
              </a:spcAft>
              <a:buClr>
                <a:srgbClr val="6D28D9"/>
              </a:buClr>
              <a:buFont typeface="Arial"/>
              <a:buChar char="•"/>
            </a:pPr>
            <a:r>
              <a:rPr sz="1300" b="0" i="0">
                <a:solidFill>
                  <a:srgbClr val="14142B"/>
                </a:solidFill>
                <a:latin typeface="Calibri"/>
              </a:rPr>
              <a:t>nomic-ai/CodeRankEmbed (137M, MIT)</a:t>
            </a:r>
          </a:p>
          <a:p>
            <a:pPr algn="l" marL="201168" indent="-201168">
              <a:spcAft>
                <a:spcPts val="300"/>
              </a:spcAft>
              <a:buClr>
                <a:srgbClr val="6D28D9"/>
              </a:buClr>
              <a:buFont typeface="Arial"/>
              <a:buChar char="•"/>
            </a:pPr>
            <a:r>
              <a:rPr sz="1300" b="0" i="0">
                <a:solidFill>
                  <a:srgbClr val="14142B"/>
                </a:solidFill>
                <a:latin typeface="Calibri"/>
              </a:rPr>
              <a:t>Fine-tuned with sentence-transformers 6.1</a:t>
            </a:r>
          </a:p>
          <a:p>
            <a:pPr algn="l" marL="201168" indent="-201168">
              <a:spcAft>
                <a:spcPts val="300"/>
              </a:spcAft>
              <a:buClr>
                <a:srgbClr val="6D28D9"/>
              </a:buClr>
              <a:buFont typeface="Arial"/>
              <a:buChar char="•"/>
            </a:pPr>
            <a:r>
              <a:rPr sz="1300" b="0" i="0">
                <a:solidFill>
                  <a:srgbClr val="14142B"/>
                </a:solidFill>
                <a:latin typeface="Calibri"/>
              </a:rPr>
              <a:t>transformers 5.0 (with our buffer fix)</a:t>
            </a:r>
          </a:p>
        </p:txBody>
      </p:sp>
      <p:sp>
        <p:nvSpPr>
          <p:cNvPr id="130" name="Rounded Rectangle 129"/>
          <p:cNvSpPr/>
          <p:nvPr/>
        </p:nvSpPr>
        <p:spPr>
          <a:xfrm>
            <a:off x="4279392" y="1188720"/>
            <a:ext cx="3520440" cy="2103120"/>
          </a:xfrm>
          <a:prstGeom prst="roundRect">
            <a:avLst>
              <a:gd name="adj" fmla="val 6000"/>
            </a:avLst>
          </a:prstGeom>
          <a:solidFill>
            <a:srgbClr val="F4F0FD"/>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Oval 130"/>
          <p:cNvSpPr/>
          <p:nvPr/>
        </p:nvSpPr>
        <p:spPr>
          <a:xfrm>
            <a:off x="4507992" y="1389888"/>
            <a:ext cx="420624" cy="4206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2</a:t>
            </a:r>
          </a:p>
        </p:txBody>
      </p:sp>
      <p:sp>
        <p:nvSpPr>
          <p:cNvPr id="132" name="TextBox 131"/>
          <p:cNvSpPr txBox="1"/>
          <p:nvPr/>
        </p:nvSpPr>
        <p:spPr>
          <a:xfrm>
            <a:off x="5056631" y="1389888"/>
            <a:ext cx="2560320" cy="420624"/>
          </a:xfrm>
          <a:prstGeom prst="rect">
            <a:avLst/>
          </a:prstGeom>
          <a:noFill/>
        </p:spPr>
        <p:txBody>
          <a:bodyPr wrap="square" lIns="0" rIns="0" tIns="0" bIns="0" anchor="ctr">
            <a:spAutoFit/>
          </a:bodyPr>
          <a:lstStyle/>
          <a:p>
            <a:pPr algn="l">
              <a:spcAft>
                <a:spcPts val="600"/>
              </a:spcAft>
            </a:pPr>
            <a:r>
              <a:rPr sz="1700" b="1" i="0">
                <a:solidFill>
                  <a:srgbClr val="14142B"/>
                </a:solidFill>
                <a:latin typeface="Calibri"/>
              </a:rPr>
              <a:t>Training &amp; evaluation</a:t>
            </a:r>
          </a:p>
        </p:txBody>
      </p:sp>
      <p:sp>
        <p:nvSpPr>
          <p:cNvPr id="133" name="TextBox 132"/>
          <p:cNvSpPr txBox="1"/>
          <p:nvPr/>
        </p:nvSpPr>
        <p:spPr>
          <a:xfrm>
            <a:off x="4553712" y="1993392"/>
            <a:ext cx="3063240" cy="1280160"/>
          </a:xfrm>
          <a:prstGeom prst="rect">
            <a:avLst/>
          </a:prstGeom>
          <a:noFill/>
        </p:spPr>
        <p:txBody>
          <a:bodyPr wrap="square" lIns="0" rIns="0" tIns="0" bIns="0" anchor="t">
            <a:spAutoFit/>
          </a:bodyPr>
          <a:lstStyle/>
          <a:p>
            <a:pPr algn="l" marL="201168" indent="-201168">
              <a:spcAft>
                <a:spcPts val="300"/>
              </a:spcAft>
              <a:buClr>
                <a:srgbClr val="6D28D9"/>
              </a:buClr>
              <a:buFont typeface="Arial"/>
              <a:buChar char="•"/>
            </a:pPr>
            <a:r>
              <a:rPr sz="1300" b="0" i="0">
                <a:solidFill>
                  <a:srgbClr val="14142B"/>
                </a:solidFill>
                <a:latin typeface="Calibri"/>
              </a:rPr>
              <a:t>Kaggle T4 GPU for training and index builds</a:t>
            </a:r>
          </a:p>
          <a:p>
            <a:pPr algn="l" marL="201168" indent="-201168">
              <a:spcAft>
                <a:spcPts val="300"/>
              </a:spcAft>
              <a:buClr>
                <a:srgbClr val="6D28D9"/>
              </a:buClr>
              <a:buFont typeface="Arial"/>
              <a:buChar char="•"/>
            </a:pPr>
            <a:r>
              <a:rPr sz="1300" b="0" i="0">
                <a:solidFill>
                  <a:srgbClr val="14142B"/>
                </a:solidFill>
                <a:latin typeface="Calibri"/>
              </a:rPr>
              <a:t>CachedMultipleNegativesRankingLoss</a:t>
            </a:r>
          </a:p>
          <a:p>
            <a:pPr algn="l" marL="201168" indent="-201168">
              <a:spcAft>
                <a:spcPts val="300"/>
              </a:spcAft>
              <a:buClr>
                <a:srgbClr val="6D28D9"/>
              </a:buClr>
              <a:buFont typeface="Arial"/>
              <a:buChar char="•"/>
            </a:pPr>
            <a:r>
              <a:rPr sz="1300" b="0" i="0">
                <a:solidFill>
                  <a:srgbClr val="14142B"/>
                </a:solidFill>
                <a:latin typeface="Calibri"/>
              </a:rPr>
              <a:t>MTEB AppsRetrieval, run on CPU</a:t>
            </a:r>
          </a:p>
        </p:txBody>
      </p:sp>
      <p:sp>
        <p:nvSpPr>
          <p:cNvPr id="134" name="Rounded Rectangle 133"/>
          <p:cNvSpPr/>
          <p:nvPr/>
        </p:nvSpPr>
        <p:spPr>
          <a:xfrm>
            <a:off x="8010144" y="1188720"/>
            <a:ext cx="3520440" cy="2103120"/>
          </a:xfrm>
          <a:prstGeom prst="roundRect">
            <a:avLst>
              <a:gd name="adj" fmla="val 6000"/>
            </a:avLst>
          </a:prstGeom>
          <a:solidFill>
            <a:srgbClr val="F4F0FD"/>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Oval 134"/>
          <p:cNvSpPr/>
          <p:nvPr/>
        </p:nvSpPr>
        <p:spPr>
          <a:xfrm>
            <a:off x="8238744" y="1389888"/>
            <a:ext cx="420624" cy="4206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3</a:t>
            </a:r>
          </a:p>
        </p:txBody>
      </p:sp>
      <p:sp>
        <p:nvSpPr>
          <p:cNvPr id="136" name="TextBox 135"/>
          <p:cNvSpPr txBox="1"/>
          <p:nvPr/>
        </p:nvSpPr>
        <p:spPr>
          <a:xfrm>
            <a:off x="8787384" y="1389888"/>
            <a:ext cx="2560320" cy="420624"/>
          </a:xfrm>
          <a:prstGeom prst="rect">
            <a:avLst/>
          </a:prstGeom>
          <a:noFill/>
        </p:spPr>
        <p:txBody>
          <a:bodyPr wrap="square" lIns="0" rIns="0" tIns="0" bIns="0" anchor="ctr">
            <a:spAutoFit/>
          </a:bodyPr>
          <a:lstStyle/>
          <a:p>
            <a:pPr algn="l">
              <a:spcAft>
                <a:spcPts val="600"/>
              </a:spcAft>
            </a:pPr>
            <a:r>
              <a:rPr sz="1700" b="1" i="0">
                <a:solidFill>
                  <a:srgbClr val="14142B"/>
                </a:solidFill>
                <a:latin typeface="Calibri"/>
              </a:rPr>
              <a:t>Indexing across versions</a:t>
            </a:r>
          </a:p>
        </p:txBody>
      </p:sp>
      <p:sp>
        <p:nvSpPr>
          <p:cNvPr id="137" name="TextBox 136"/>
          <p:cNvSpPr txBox="1"/>
          <p:nvPr/>
        </p:nvSpPr>
        <p:spPr>
          <a:xfrm>
            <a:off x="8284464" y="1993392"/>
            <a:ext cx="3063240" cy="1280160"/>
          </a:xfrm>
          <a:prstGeom prst="rect">
            <a:avLst/>
          </a:prstGeom>
          <a:noFill/>
        </p:spPr>
        <p:txBody>
          <a:bodyPr wrap="square" lIns="0" rIns="0" tIns="0" bIns="0" anchor="t">
            <a:spAutoFit/>
          </a:bodyPr>
          <a:lstStyle/>
          <a:p>
            <a:pPr algn="l" marL="201168" indent="-201168">
              <a:spcAft>
                <a:spcPts val="300"/>
              </a:spcAft>
              <a:buClr>
                <a:srgbClr val="6D28D9"/>
              </a:buClr>
              <a:buFont typeface="Arial"/>
              <a:buChar char="•"/>
            </a:pPr>
            <a:r>
              <a:rPr sz="1300" b="0" i="0">
                <a:solidFill>
                  <a:srgbClr val="14142B"/>
                </a:solidFill>
                <a:latin typeface="Calibri"/>
              </a:rPr>
              <a:t>Python ast for chunking</a:t>
            </a:r>
          </a:p>
          <a:p>
            <a:pPr algn="l" marL="201168" indent="-201168">
              <a:spcAft>
                <a:spcPts val="300"/>
              </a:spcAft>
              <a:buClr>
                <a:srgbClr val="6D28D9"/>
              </a:buClr>
              <a:buFont typeface="Arial"/>
              <a:buChar char="•"/>
            </a:pPr>
            <a:r>
              <a:rPr sz="1300" b="0" i="0">
                <a:solidFill>
                  <a:srgbClr val="14142B"/>
                </a:solidFill>
                <a:latin typeface="Calibri"/>
              </a:rPr>
              <a:t>git diff for incremental rebuilds</a:t>
            </a:r>
          </a:p>
          <a:p>
            <a:pPr algn="l" marL="201168" indent="-201168">
              <a:spcAft>
                <a:spcPts val="300"/>
              </a:spcAft>
              <a:buClr>
                <a:srgbClr val="6D28D9"/>
              </a:buClr>
              <a:buFont typeface="Arial"/>
              <a:buChar char="•"/>
            </a:pPr>
            <a:r>
              <a:rPr sz="1300" b="0" i="0">
                <a:solidFill>
                  <a:srgbClr val="14142B"/>
                </a:solidFill>
                <a:latin typeface="Calibri"/>
              </a:rPr>
              <a:t>Content-hash cache, NumPy vectors</a:t>
            </a:r>
          </a:p>
        </p:txBody>
      </p:sp>
      <p:sp>
        <p:nvSpPr>
          <p:cNvPr id="138" name="Rounded Rectangle 137"/>
          <p:cNvSpPr/>
          <p:nvPr/>
        </p:nvSpPr>
        <p:spPr>
          <a:xfrm>
            <a:off x="548640" y="3520439"/>
            <a:ext cx="3520440" cy="2103120"/>
          </a:xfrm>
          <a:prstGeom prst="roundRect">
            <a:avLst>
              <a:gd name="adj" fmla="val 6000"/>
            </a:avLst>
          </a:prstGeom>
          <a:solidFill>
            <a:srgbClr val="F4F0FD"/>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Oval 138"/>
          <p:cNvSpPr/>
          <p:nvPr/>
        </p:nvSpPr>
        <p:spPr>
          <a:xfrm>
            <a:off x="777240" y="3721607"/>
            <a:ext cx="420624" cy="4206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4</a:t>
            </a:r>
          </a:p>
        </p:txBody>
      </p:sp>
      <p:sp>
        <p:nvSpPr>
          <p:cNvPr id="140" name="TextBox 139"/>
          <p:cNvSpPr txBox="1"/>
          <p:nvPr/>
        </p:nvSpPr>
        <p:spPr>
          <a:xfrm>
            <a:off x="1325880" y="3721607"/>
            <a:ext cx="2560320" cy="420624"/>
          </a:xfrm>
          <a:prstGeom prst="rect">
            <a:avLst/>
          </a:prstGeom>
          <a:noFill/>
        </p:spPr>
        <p:txBody>
          <a:bodyPr wrap="square" lIns="0" rIns="0" tIns="0" bIns="0" anchor="ctr">
            <a:spAutoFit/>
          </a:bodyPr>
          <a:lstStyle/>
          <a:p>
            <a:pPr algn="l">
              <a:spcAft>
                <a:spcPts val="600"/>
              </a:spcAft>
            </a:pPr>
            <a:r>
              <a:rPr sz="1700" b="1" i="0">
                <a:solidFill>
                  <a:srgbClr val="14142B"/>
                </a:solidFill>
                <a:latin typeface="Calibri"/>
              </a:rPr>
              <a:t>Demo &amp; hosting</a:t>
            </a:r>
          </a:p>
        </p:txBody>
      </p:sp>
      <p:sp>
        <p:nvSpPr>
          <p:cNvPr id="141" name="TextBox 140"/>
          <p:cNvSpPr txBox="1"/>
          <p:nvPr/>
        </p:nvSpPr>
        <p:spPr>
          <a:xfrm>
            <a:off x="822959" y="4325112"/>
            <a:ext cx="3063240" cy="1280160"/>
          </a:xfrm>
          <a:prstGeom prst="rect">
            <a:avLst/>
          </a:prstGeom>
          <a:noFill/>
        </p:spPr>
        <p:txBody>
          <a:bodyPr wrap="square" lIns="0" rIns="0" tIns="0" bIns="0" anchor="t">
            <a:spAutoFit/>
          </a:bodyPr>
          <a:lstStyle/>
          <a:p>
            <a:pPr algn="l" marL="201168" indent="-201168">
              <a:spcAft>
                <a:spcPts val="300"/>
              </a:spcAft>
              <a:buClr>
                <a:srgbClr val="6D28D9"/>
              </a:buClr>
              <a:buFont typeface="Arial"/>
              <a:buChar char="•"/>
            </a:pPr>
            <a:r>
              <a:rPr sz="1300" b="0" i="0">
                <a:solidFill>
                  <a:srgbClr val="14142B"/>
                </a:solidFill>
                <a:latin typeface="Calibri"/>
              </a:rPr>
              <a:t>Gradio app on a Hugging Face Space</a:t>
            </a:r>
          </a:p>
          <a:p>
            <a:pPr algn="l" marL="201168" indent="-201168">
              <a:spcAft>
                <a:spcPts val="300"/>
              </a:spcAft>
              <a:buClr>
                <a:srgbClr val="6D28D9"/>
              </a:buClr>
              <a:buFont typeface="Arial"/>
              <a:buChar char="•"/>
            </a:pPr>
            <a:r>
              <a:rPr sz="1300" b="0" i="0">
                <a:solidFill>
                  <a:srgbClr val="14142B"/>
                </a:solidFill>
                <a:latin typeface="Calibri"/>
              </a:rPr>
              <a:t>Indexes stored as HF datasets</a:t>
            </a:r>
          </a:p>
          <a:p>
            <a:pPr algn="l" marL="201168" indent="-201168">
              <a:spcAft>
                <a:spcPts val="300"/>
              </a:spcAft>
              <a:buClr>
                <a:srgbClr val="6D28D9"/>
              </a:buClr>
              <a:buFont typeface="Arial"/>
              <a:buChar char="•"/>
            </a:pPr>
            <a:r>
              <a:rPr sz="1300" b="0" i="0">
                <a:solidFill>
                  <a:srgbClr val="14142B"/>
                </a:solidFill>
                <a:latin typeface="Calibri"/>
              </a:rPr>
              <a:t>Queries encoded on CPU</a:t>
            </a:r>
          </a:p>
        </p:txBody>
      </p:sp>
      <p:sp>
        <p:nvSpPr>
          <p:cNvPr id="142" name="Rounded Rectangle 141"/>
          <p:cNvSpPr/>
          <p:nvPr/>
        </p:nvSpPr>
        <p:spPr>
          <a:xfrm>
            <a:off x="4279392" y="3520439"/>
            <a:ext cx="3520440" cy="2103120"/>
          </a:xfrm>
          <a:prstGeom prst="roundRect">
            <a:avLst>
              <a:gd name="adj" fmla="val 6000"/>
            </a:avLst>
          </a:prstGeom>
          <a:solidFill>
            <a:srgbClr val="F4F0FD"/>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Oval 142"/>
          <p:cNvSpPr/>
          <p:nvPr/>
        </p:nvSpPr>
        <p:spPr>
          <a:xfrm>
            <a:off x="4507992" y="3721607"/>
            <a:ext cx="420624" cy="4206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5</a:t>
            </a:r>
          </a:p>
        </p:txBody>
      </p:sp>
      <p:sp>
        <p:nvSpPr>
          <p:cNvPr id="144" name="TextBox 143"/>
          <p:cNvSpPr txBox="1"/>
          <p:nvPr/>
        </p:nvSpPr>
        <p:spPr>
          <a:xfrm>
            <a:off x="5056631" y="3721607"/>
            <a:ext cx="2560320" cy="420624"/>
          </a:xfrm>
          <a:prstGeom prst="rect">
            <a:avLst/>
          </a:prstGeom>
          <a:noFill/>
        </p:spPr>
        <p:txBody>
          <a:bodyPr wrap="square" lIns="0" rIns="0" tIns="0" bIns="0" anchor="ctr">
            <a:spAutoFit/>
          </a:bodyPr>
          <a:lstStyle/>
          <a:p>
            <a:pPr algn="l">
              <a:spcAft>
                <a:spcPts val="600"/>
              </a:spcAft>
            </a:pPr>
            <a:r>
              <a:rPr sz="1700" b="1" i="0">
                <a:solidFill>
                  <a:srgbClr val="14142B"/>
                </a:solidFill>
                <a:latin typeface="Calibri"/>
              </a:rPr>
              <a:t>Testing</a:t>
            </a:r>
          </a:p>
        </p:txBody>
      </p:sp>
      <p:sp>
        <p:nvSpPr>
          <p:cNvPr id="145" name="TextBox 144"/>
          <p:cNvSpPr txBox="1"/>
          <p:nvPr/>
        </p:nvSpPr>
        <p:spPr>
          <a:xfrm>
            <a:off x="4553712" y="4325112"/>
            <a:ext cx="3063240" cy="1280160"/>
          </a:xfrm>
          <a:prstGeom prst="rect">
            <a:avLst/>
          </a:prstGeom>
          <a:noFill/>
        </p:spPr>
        <p:txBody>
          <a:bodyPr wrap="square" lIns="0" rIns="0" tIns="0" bIns="0" anchor="t">
            <a:spAutoFit/>
          </a:bodyPr>
          <a:lstStyle/>
          <a:p>
            <a:pPr algn="l" marL="201168" indent="-201168">
              <a:spcAft>
                <a:spcPts val="300"/>
              </a:spcAft>
              <a:buClr>
                <a:srgbClr val="6D28D9"/>
              </a:buClr>
              <a:buFont typeface="Arial"/>
              <a:buChar char="•"/>
            </a:pPr>
            <a:r>
              <a:rPr sz="1300" b="0" i="0">
                <a:solidFill>
                  <a:srgbClr val="14142B"/>
                </a:solidFill>
                <a:latin typeface="Calibri"/>
              </a:rPr>
              <a:t>pytest, runs without torch</a:t>
            </a:r>
          </a:p>
          <a:p>
            <a:pPr algn="l" marL="201168" indent="-201168">
              <a:spcAft>
                <a:spcPts val="300"/>
              </a:spcAft>
              <a:buClr>
                <a:srgbClr val="6D28D9"/>
              </a:buClr>
              <a:buFont typeface="Arial"/>
              <a:buChar char="•"/>
            </a:pPr>
            <a:r>
              <a:rPr sz="1300" b="0" i="0">
                <a:solidFill>
                  <a:srgbClr val="14142B"/>
                </a:solidFill>
                <a:latin typeface="Calibri"/>
              </a:rPr>
              <a:t>Fake embedders + a throwaway git repo</a:t>
            </a:r>
          </a:p>
          <a:p>
            <a:pPr algn="l" marL="201168" indent="-201168">
              <a:spcAft>
                <a:spcPts val="300"/>
              </a:spcAft>
              <a:buClr>
                <a:srgbClr val="6D28D9"/>
              </a:buClr>
              <a:buFont typeface="Arial"/>
              <a:buChar char="•"/>
            </a:pPr>
            <a:r>
              <a:rPr sz="1300" b="0" i="0">
                <a:solidFill>
                  <a:srgbClr val="14142B"/>
                </a:solidFill>
                <a:latin typeface="Calibri"/>
              </a:rPr>
              <a:t>Checks that incremental = full build</a:t>
            </a:r>
          </a:p>
        </p:txBody>
      </p:sp>
      <p:sp>
        <p:nvSpPr>
          <p:cNvPr id="146" name="Rounded Rectangle 145"/>
          <p:cNvSpPr/>
          <p:nvPr/>
        </p:nvSpPr>
        <p:spPr>
          <a:xfrm>
            <a:off x="8010144" y="3520439"/>
            <a:ext cx="3520440" cy="2103120"/>
          </a:xfrm>
          <a:prstGeom prst="roundRect">
            <a:avLst>
              <a:gd name="adj" fmla="val 6000"/>
            </a:avLst>
          </a:prstGeom>
          <a:solidFill>
            <a:srgbClr val="F4F0FD"/>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Oval 146"/>
          <p:cNvSpPr/>
          <p:nvPr/>
        </p:nvSpPr>
        <p:spPr>
          <a:xfrm>
            <a:off x="8238744" y="3721607"/>
            <a:ext cx="420624" cy="4206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6</a:t>
            </a:r>
          </a:p>
        </p:txBody>
      </p:sp>
      <p:sp>
        <p:nvSpPr>
          <p:cNvPr id="148" name="TextBox 147"/>
          <p:cNvSpPr txBox="1"/>
          <p:nvPr/>
        </p:nvSpPr>
        <p:spPr>
          <a:xfrm>
            <a:off x="8787384" y="3721607"/>
            <a:ext cx="2560320" cy="420624"/>
          </a:xfrm>
          <a:prstGeom prst="rect">
            <a:avLst/>
          </a:prstGeom>
          <a:noFill/>
        </p:spPr>
        <p:txBody>
          <a:bodyPr wrap="square" lIns="0" rIns="0" tIns="0" bIns="0" anchor="ctr">
            <a:spAutoFit/>
          </a:bodyPr>
          <a:lstStyle/>
          <a:p>
            <a:pPr algn="l">
              <a:spcAft>
                <a:spcPts val="600"/>
              </a:spcAft>
            </a:pPr>
            <a:r>
              <a:rPr sz="1700" b="1" i="0">
                <a:solidFill>
                  <a:srgbClr val="14142B"/>
                </a:solidFill>
                <a:latin typeface="Calibri"/>
              </a:rPr>
              <a:t>Reproducibility</a:t>
            </a:r>
          </a:p>
        </p:txBody>
      </p:sp>
      <p:sp>
        <p:nvSpPr>
          <p:cNvPr id="149" name="TextBox 148"/>
          <p:cNvSpPr txBox="1"/>
          <p:nvPr/>
        </p:nvSpPr>
        <p:spPr>
          <a:xfrm>
            <a:off x="8284464" y="4325112"/>
            <a:ext cx="3063240" cy="1280160"/>
          </a:xfrm>
          <a:prstGeom prst="rect">
            <a:avLst/>
          </a:prstGeom>
          <a:noFill/>
        </p:spPr>
        <p:txBody>
          <a:bodyPr wrap="square" lIns="0" rIns="0" tIns="0" bIns="0" anchor="t">
            <a:spAutoFit/>
          </a:bodyPr>
          <a:lstStyle/>
          <a:p>
            <a:pPr algn="l" marL="201168" indent="-201168">
              <a:spcAft>
                <a:spcPts val="300"/>
              </a:spcAft>
              <a:buClr>
                <a:srgbClr val="6D28D9"/>
              </a:buClr>
              <a:buFont typeface="Arial"/>
              <a:buChar char="•"/>
            </a:pPr>
            <a:r>
              <a:rPr sz="1300" b="0" i="0">
                <a:solidFill>
                  <a:srgbClr val="14142B"/>
                </a:solidFill>
                <a:latin typeface="Calibri"/>
              </a:rPr>
              <a:t>Model revision pinned and checked at startup</a:t>
            </a:r>
          </a:p>
          <a:p>
            <a:pPr algn="l" marL="201168" indent="-201168">
              <a:spcAft>
                <a:spcPts val="300"/>
              </a:spcAft>
              <a:buClr>
                <a:srgbClr val="6D28D9"/>
              </a:buClr>
              <a:buFont typeface="Arial"/>
              <a:buChar char="•"/>
            </a:pPr>
            <a:r>
              <a:rPr sz="1300" b="0" i="0">
                <a:solidFill>
                  <a:srgbClr val="14142B"/>
                </a:solidFill>
                <a:latin typeface="Calibri"/>
              </a:rPr>
              <a:t>Results JSON attached to the release</a:t>
            </a:r>
          </a:p>
          <a:p>
            <a:pPr algn="l" marL="201168" indent="-201168">
              <a:spcAft>
                <a:spcPts val="300"/>
              </a:spcAft>
              <a:buClr>
                <a:srgbClr val="6D28D9"/>
              </a:buClr>
              <a:buFont typeface="Arial"/>
              <a:buChar char="•"/>
            </a:pPr>
            <a:r>
              <a:rPr sz="1300" b="0" i="0">
                <a:solidFill>
                  <a:srgbClr val="14142B"/>
                </a:solidFill>
                <a:latin typeface="Calibri"/>
              </a:rPr>
              <a:t>Rebuild scripts in the repo</a:t>
            </a:r>
          </a:p>
        </p:txBody>
      </p:sp>
      <p:sp>
        <p:nvSpPr>
          <p:cNvPr id="150" name="TextBox 149"/>
          <p:cNvSpPr txBox="1"/>
          <p:nvPr/>
        </p:nvSpPr>
        <p:spPr>
          <a:xfrm>
            <a:off x="548640" y="5943600"/>
            <a:ext cx="11064240" cy="320040"/>
          </a:xfrm>
          <a:prstGeom prst="rect">
            <a:avLst/>
          </a:prstGeom>
          <a:noFill/>
        </p:spPr>
        <p:txBody>
          <a:bodyPr wrap="square" lIns="0" rIns="0" tIns="0" bIns="0" anchor="t">
            <a:spAutoFit/>
          </a:bodyPr>
          <a:lstStyle/>
          <a:p>
            <a:pPr algn="l">
              <a:spcAft>
                <a:spcPts val="600"/>
              </a:spcAft>
            </a:pPr>
            <a:r>
              <a:rPr sz="1150" b="0" i="0">
                <a:solidFill>
                  <a:srgbClr val="55556E"/>
                </a:solidFill>
                <a:latin typeface="Calibri"/>
              </a:rPr>
              <a:t>Development help: we used Claude (Anthropic) as a coding assistant. Details are in our AI disclosure form in the repo.</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txBox="1"/>
          <p:nvPr>
            <p:ph type="title"/>
          </p:nvPr>
        </p:nvSpPr>
        <p:spPr>
          <a:xfrm>
            <a:off x="548640" y="320040"/>
            <a:ext cx="11064240" cy="731520"/>
          </a:xfrm>
          <a:prstGeom prst="rect">
            <a:avLst/>
          </a:prstGeom>
          <a:noFill/>
          <a:ln>
            <a:noFill/>
          </a:ln>
        </p:spPr>
        <p:txBody>
          <a:bodyPr anchorCtr="0" anchor="ctr" bIns="45700" lIns="91425" spcFirstLastPara="1" rIns="91425" wrap="square" tIns="45700"/>
          <a:lstStyle/>
          <a:p>
            <a:pPr indent="0" lvl="0" marL="0" rtl="0" algn="l">
              <a:lnSpc>
                <a:spcPct val="90000"/>
              </a:lnSpc>
              <a:spcBef>
                <a:spcPts val="0"/>
              </a:spcBef>
              <a:spcAft>
                <a:spcPts val="0"/>
              </a:spcAft>
              <a:buClr>
                <a:srgbClr val="704EA6"/>
              </a:buClr>
              <a:buSzPts val="4400"/>
              <a:buFont typeface="Calibri"/>
              <a:buNone/>
            </a:pPr>
            <a:r>
              <a:rPr b="1" lang="en-US" sz="3000">
                <a:solidFill>
                  <a:srgbClr val="704EA6"/>
                </a:solidFill>
                <a:latin typeface="Calibri"/>
                <a:ea typeface="Calibri"/>
                <a:cs typeface="Calibri"/>
                <a:sym typeface="Calibri"/>
              </a:rPr>
              <a:t>Impact &amp; Use case</a:t>
            </a:r>
            <a:endParaRPr b="1">
              <a:solidFill>
                <a:srgbClr val="704EA6"/>
              </a:solidFill>
            </a:endParaRPr>
          </a:p>
        </p:txBody>
      </p:sp>
      <p:sp>
        <p:nvSpPr>
          <p:cNvPr id="132" name="Rounded Rectangle 131"/>
          <p:cNvSpPr/>
          <p:nvPr/>
        </p:nvSpPr>
        <p:spPr>
          <a:xfrm>
            <a:off x="548640" y="1188720"/>
            <a:ext cx="5394960" cy="1554480"/>
          </a:xfrm>
          <a:prstGeom prst="roundRect">
            <a:avLst>
              <a:gd name="adj" fmla="val 6000"/>
            </a:avLst>
          </a:prstGeom>
          <a:solidFill>
            <a:srgbClr val="FFFFFF"/>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Oval 132"/>
          <p:cNvSpPr/>
          <p:nvPr/>
        </p:nvSpPr>
        <p:spPr>
          <a:xfrm>
            <a:off x="777240" y="1371600"/>
            <a:ext cx="420624" cy="4206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a:t>
            </a:r>
          </a:p>
        </p:txBody>
      </p:sp>
      <p:sp>
        <p:nvSpPr>
          <p:cNvPr id="134" name="TextBox 133"/>
          <p:cNvSpPr txBox="1"/>
          <p:nvPr/>
        </p:nvSpPr>
        <p:spPr>
          <a:xfrm>
            <a:off x="1325880" y="1371600"/>
            <a:ext cx="4389120" cy="420624"/>
          </a:xfrm>
          <a:prstGeom prst="rect">
            <a:avLst/>
          </a:prstGeom>
          <a:noFill/>
        </p:spPr>
        <p:txBody>
          <a:bodyPr wrap="square" lIns="0" rIns="0" tIns="0" bIns="0" anchor="ctr">
            <a:spAutoFit/>
          </a:bodyPr>
          <a:lstStyle/>
          <a:p>
            <a:pPr algn="l">
              <a:spcAft>
                <a:spcPts val="600"/>
              </a:spcAft>
            </a:pPr>
            <a:r>
              <a:rPr sz="1700" b="1" i="0">
                <a:solidFill>
                  <a:srgbClr val="14142B"/>
                </a:solidFill>
                <a:latin typeface="Calibri"/>
              </a:rPr>
              <a:t>Coding agents</a:t>
            </a:r>
          </a:p>
        </p:txBody>
      </p:sp>
      <p:sp>
        <p:nvSpPr>
          <p:cNvPr id="135" name="TextBox 134"/>
          <p:cNvSpPr txBox="1"/>
          <p:nvPr/>
        </p:nvSpPr>
        <p:spPr>
          <a:xfrm>
            <a:off x="822959" y="1901952"/>
            <a:ext cx="4892040" cy="822960"/>
          </a:xfrm>
          <a:prstGeom prst="rect">
            <a:avLst/>
          </a:prstGeom>
          <a:noFill/>
        </p:spPr>
        <p:txBody>
          <a:bodyPr wrap="square" lIns="0" rIns="0" tIns="0" bIns="0" anchor="t">
            <a:spAutoFit/>
          </a:bodyPr>
          <a:lstStyle/>
          <a:p>
            <a:pPr algn="l">
              <a:spcAft>
                <a:spcPts val="600"/>
              </a:spcAft>
            </a:pPr>
            <a:r>
              <a:rPr sz="1450" b="0" i="0">
                <a:solidFill>
                  <a:srgbClr val="55556E"/>
                </a:solidFill>
                <a:latin typeface="Calibri"/>
              </a:rPr>
              <a:t>Retrieval is step one before any fix. Better top-10 results mean the agent reads the right files and sends fewer tokens to the LLM.</a:t>
            </a:r>
          </a:p>
        </p:txBody>
      </p:sp>
      <p:sp>
        <p:nvSpPr>
          <p:cNvPr id="136" name="Rounded Rectangle 135"/>
          <p:cNvSpPr/>
          <p:nvPr/>
        </p:nvSpPr>
        <p:spPr>
          <a:xfrm>
            <a:off x="6126479" y="1188720"/>
            <a:ext cx="5394960" cy="1554480"/>
          </a:xfrm>
          <a:prstGeom prst="roundRect">
            <a:avLst>
              <a:gd name="adj" fmla="val 6000"/>
            </a:avLst>
          </a:prstGeom>
          <a:solidFill>
            <a:srgbClr val="FFFFFF"/>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Oval 136"/>
          <p:cNvSpPr/>
          <p:nvPr/>
        </p:nvSpPr>
        <p:spPr>
          <a:xfrm>
            <a:off x="6355079" y="1371600"/>
            <a:ext cx="420624" cy="4206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2</a:t>
            </a:r>
          </a:p>
        </p:txBody>
      </p:sp>
      <p:sp>
        <p:nvSpPr>
          <p:cNvPr id="138" name="TextBox 137"/>
          <p:cNvSpPr txBox="1"/>
          <p:nvPr/>
        </p:nvSpPr>
        <p:spPr>
          <a:xfrm>
            <a:off x="6903719" y="1371600"/>
            <a:ext cx="4389120" cy="420624"/>
          </a:xfrm>
          <a:prstGeom prst="rect">
            <a:avLst/>
          </a:prstGeom>
          <a:noFill/>
        </p:spPr>
        <p:txBody>
          <a:bodyPr wrap="square" lIns="0" rIns="0" tIns="0" bIns="0" anchor="ctr">
            <a:spAutoFit/>
          </a:bodyPr>
          <a:lstStyle/>
          <a:p>
            <a:pPr algn="l">
              <a:spcAft>
                <a:spcPts val="600"/>
              </a:spcAft>
            </a:pPr>
            <a:r>
              <a:rPr sz="1700" b="1" i="0">
                <a:solidFill>
                  <a:srgbClr val="14142B"/>
                </a:solidFill>
                <a:latin typeface="Calibri"/>
              </a:rPr>
              <a:t>Developers new to a repo</a:t>
            </a:r>
          </a:p>
        </p:txBody>
      </p:sp>
      <p:sp>
        <p:nvSpPr>
          <p:cNvPr id="139" name="TextBox 138"/>
          <p:cNvSpPr txBox="1"/>
          <p:nvPr/>
        </p:nvSpPr>
        <p:spPr>
          <a:xfrm>
            <a:off x="6400799" y="1901952"/>
            <a:ext cx="4892040" cy="822960"/>
          </a:xfrm>
          <a:prstGeom prst="rect">
            <a:avLst/>
          </a:prstGeom>
          <a:noFill/>
        </p:spPr>
        <p:txBody>
          <a:bodyPr wrap="square" lIns="0" rIns="0" tIns="0" bIns="0" anchor="t">
            <a:spAutoFit/>
          </a:bodyPr>
          <a:lstStyle/>
          <a:p>
            <a:pPr algn="l">
              <a:spcAft>
                <a:spcPts val="600"/>
              </a:spcAft>
            </a:pPr>
            <a:r>
              <a:rPr sz="1450" b="0" i="0">
                <a:solidFill>
                  <a:srgbClr val="55556E"/>
                </a:solidFill>
                <a:latin typeface="Calibri"/>
              </a:rPr>
              <a:t>Ask "where is the retry logic?" and jump straight to the function and lines, instead of grepping for names you don't know yet.</a:t>
            </a:r>
          </a:p>
        </p:txBody>
      </p:sp>
      <p:sp>
        <p:nvSpPr>
          <p:cNvPr id="140" name="Rounded Rectangle 139"/>
          <p:cNvSpPr/>
          <p:nvPr/>
        </p:nvSpPr>
        <p:spPr>
          <a:xfrm>
            <a:off x="548640" y="2926080"/>
            <a:ext cx="5394960" cy="1554480"/>
          </a:xfrm>
          <a:prstGeom prst="roundRect">
            <a:avLst>
              <a:gd name="adj" fmla="val 6000"/>
            </a:avLst>
          </a:prstGeom>
          <a:solidFill>
            <a:srgbClr val="FFFFFF"/>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Oval 140"/>
          <p:cNvSpPr/>
          <p:nvPr/>
        </p:nvSpPr>
        <p:spPr>
          <a:xfrm>
            <a:off x="777240" y="3108960"/>
            <a:ext cx="420624" cy="4206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3</a:t>
            </a:r>
          </a:p>
        </p:txBody>
      </p:sp>
      <p:sp>
        <p:nvSpPr>
          <p:cNvPr id="142" name="TextBox 141"/>
          <p:cNvSpPr txBox="1"/>
          <p:nvPr/>
        </p:nvSpPr>
        <p:spPr>
          <a:xfrm>
            <a:off x="1325880" y="3108960"/>
            <a:ext cx="4389120" cy="420624"/>
          </a:xfrm>
          <a:prstGeom prst="rect">
            <a:avLst/>
          </a:prstGeom>
          <a:noFill/>
        </p:spPr>
        <p:txBody>
          <a:bodyPr wrap="square" lIns="0" rIns="0" tIns="0" bIns="0" anchor="ctr">
            <a:spAutoFit/>
          </a:bodyPr>
          <a:lstStyle/>
          <a:p>
            <a:pPr algn="l">
              <a:spcAft>
                <a:spcPts val="600"/>
              </a:spcAft>
            </a:pPr>
            <a:r>
              <a:rPr sz="1700" b="1" i="0">
                <a:solidFill>
                  <a:srgbClr val="14142B"/>
                </a:solidFill>
                <a:latin typeface="Calibri"/>
              </a:rPr>
              <a:t>Support on older releases</a:t>
            </a:r>
          </a:p>
        </p:txBody>
      </p:sp>
      <p:sp>
        <p:nvSpPr>
          <p:cNvPr id="143" name="TextBox 142"/>
          <p:cNvSpPr txBox="1"/>
          <p:nvPr/>
        </p:nvSpPr>
        <p:spPr>
          <a:xfrm>
            <a:off x="822959" y="3639312"/>
            <a:ext cx="4892040" cy="822960"/>
          </a:xfrm>
          <a:prstGeom prst="rect">
            <a:avLst/>
          </a:prstGeom>
          <a:noFill/>
        </p:spPr>
        <p:txBody>
          <a:bodyPr wrap="square" lIns="0" rIns="0" tIns="0" bIns="0" anchor="t">
            <a:spAutoFit/>
          </a:bodyPr>
          <a:lstStyle/>
          <a:p>
            <a:pPr algn="l">
              <a:spcAft>
                <a:spcPts val="600"/>
              </a:spcAft>
            </a:pPr>
            <a:r>
              <a:rPr sz="1450" b="0" i="0">
                <a:solidFill>
                  <a:srgbClr val="55556E"/>
                </a:solidFill>
                <a:latin typeface="Calibri"/>
              </a:rPr>
              <a:t>Bugs are reported against the version a customer runs. Search that exact commit, not just main.</a:t>
            </a:r>
          </a:p>
        </p:txBody>
      </p:sp>
      <p:sp>
        <p:nvSpPr>
          <p:cNvPr id="144" name="Rounded Rectangle 143"/>
          <p:cNvSpPr/>
          <p:nvPr/>
        </p:nvSpPr>
        <p:spPr>
          <a:xfrm>
            <a:off x="6126479" y="2926080"/>
            <a:ext cx="5394960" cy="1554480"/>
          </a:xfrm>
          <a:prstGeom prst="roundRect">
            <a:avLst>
              <a:gd name="adj" fmla="val 6000"/>
            </a:avLst>
          </a:prstGeom>
          <a:solidFill>
            <a:srgbClr val="FFFFFF"/>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Oval 144"/>
          <p:cNvSpPr/>
          <p:nvPr/>
        </p:nvSpPr>
        <p:spPr>
          <a:xfrm>
            <a:off x="6355079" y="3108960"/>
            <a:ext cx="420624" cy="4206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4</a:t>
            </a:r>
          </a:p>
        </p:txBody>
      </p:sp>
      <p:sp>
        <p:nvSpPr>
          <p:cNvPr id="146" name="TextBox 145"/>
          <p:cNvSpPr txBox="1"/>
          <p:nvPr/>
        </p:nvSpPr>
        <p:spPr>
          <a:xfrm>
            <a:off x="6903719" y="3108960"/>
            <a:ext cx="4389120" cy="420624"/>
          </a:xfrm>
          <a:prstGeom prst="rect">
            <a:avLst/>
          </a:prstGeom>
          <a:noFill/>
        </p:spPr>
        <p:txBody>
          <a:bodyPr wrap="square" lIns="0" rIns="0" tIns="0" bIns="0" anchor="ctr">
            <a:spAutoFit/>
          </a:bodyPr>
          <a:lstStyle/>
          <a:p>
            <a:pPr algn="l">
              <a:spcAft>
                <a:spcPts val="600"/>
              </a:spcAft>
            </a:pPr>
            <a:r>
              <a:rPr sz="1700" b="1" i="0">
                <a:solidFill>
                  <a:srgbClr val="14142B"/>
                </a:solidFill>
                <a:latin typeface="Calibri"/>
              </a:rPr>
              <a:t>Teams without GPUs</a:t>
            </a:r>
          </a:p>
        </p:txBody>
      </p:sp>
      <p:sp>
        <p:nvSpPr>
          <p:cNvPr id="147" name="TextBox 146"/>
          <p:cNvSpPr txBox="1"/>
          <p:nvPr/>
        </p:nvSpPr>
        <p:spPr>
          <a:xfrm>
            <a:off x="6400799" y="3639312"/>
            <a:ext cx="4892040" cy="822960"/>
          </a:xfrm>
          <a:prstGeom prst="rect">
            <a:avLst/>
          </a:prstGeom>
          <a:noFill/>
        </p:spPr>
        <p:txBody>
          <a:bodyPr wrap="square" lIns="0" rIns="0" tIns="0" bIns="0" anchor="t">
            <a:spAutoFit/>
          </a:bodyPr>
          <a:lstStyle/>
          <a:p>
            <a:pPr algn="l">
              <a:spcAft>
                <a:spcPts val="600"/>
              </a:spcAft>
            </a:pPr>
            <a:r>
              <a:rPr sz="1450" b="0" i="0">
                <a:solidFill>
                  <a:srgbClr val="55556E"/>
                </a:solidFill>
                <a:latin typeface="Calibri"/>
              </a:rPr>
              <a:t>Queries run on CPU in tens of milliseconds, so it fits on a laptop, a CI runner or an on-prem server.</a:t>
            </a:r>
          </a:p>
        </p:txBody>
      </p:sp>
      <p:sp>
        <p:nvSpPr>
          <p:cNvPr id="148" name="Rounded Rectangle 147"/>
          <p:cNvSpPr/>
          <p:nvPr/>
        </p:nvSpPr>
        <p:spPr>
          <a:xfrm>
            <a:off x="548640" y="4754880"/>
            <a:ext cx="3520440" cy="1417320"/>
          </a:xfrm>
          <a:prstGeom prst="roundRect">
            <a:avLst>
              <a:gd name="adj" fmla="val 6000"/>
            </a:avLst>
          </a:prstGeom>
          <a:solidFill>
            <a:srgbClr val="F4F0FD"/>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TextBox 148"/>
          <p:cNvSpPr txBox="1"/>
          <p:nvPr/>
        </p:nvSpPr>
        <p:spPr>
          <a:xfrm>
            <a:off x="822959" y="4846320"/>
            <a:ext cx="3017520" cy="685800"/>
          </a:xfrm>
          <a:prstGeom prst="rect">
            <a:avLst/>
          </a:prstGeom>
          <a:noFill/>
        </p:spPr>
        <p:txBody>
          <a:bodyPr wrap="square" lIns="0" rIns="0" tIns="0" bIns="0" anchor="ctr">
            <a:spAutoFit/>
          </a:bodyPr>
          <a:lstStyle/>
          <a:p>
            <a:pPr algn="l">
              <a:spcAft>
                <a:spcPts val="600"/>
              </a:spcAft>
            </a:pPr>
            <a:r>
              <a:rPr sz="3200" b="1" i="0">
                <a:solidFill>
                  <a:srgbClr val="6D28D9"/>
                </a:solidFill>
                <a:latin typeface="Calibri"/>
              </a:rPr>
              <a:t>28 ms</a:t>
            </a:r>
          </a:p>
        </p:txBody>
      </p:sp>
      <p:sp>
        <p:nvSpPr>
          <p:cNvPr id="150" name="TextBox 149"/>
          <p:cNvSpPr txBox="1"/>
          <p:nvPr/>
        </p:nvSpPr>
        <p:spPr>
          <a:xfrm>
            <a:off x="822959" y="5559552"/>
            <a:ext cx="3017520" cy="502920"/>
          </a:xfrm>
          <a:prstGeom prst="rect">
            <a:avLst/>
          </a:prstGeom>
          <a:noFill/>
        </p:spPr>
        <p:txBody>
          <a:bodyPr wrap="square" lIns="0" rIns="0" tIns="0" bIns="0" anchor="t">
            <a:spAutoFit/>
          </a:bodyPr>
          <a:lstStyle/>
          <a:p>
            <a:pPr algn="l">
              <a:spcAft>
                <a:spcPts val="600"/>
              </a:spcAft>
            </a:pPr>
            <a:r>
              <a:rPr sz="1300" b="0" i="0">
                <a:solidFill>
                  <a:srgbClr val="55556E"/>
                </a:solidFill>
                <a:latin typeface="Calibri"/>
              </a:rPr>
              <a:t>per query on CPU</a:t>
            </a:r>
          </a:p>
        </p:txBody>
      </p:sp>
      <p:sp>
        <p:nvSpPr>
          <p:cNvPr id="151" name="Rounded Rectangle 150"/>
          <p:cNvSpPr/>
          <p:nvPr/>
        </p:nvSpPr>
        <p:spPr>
          <a:xfrm>
            <a:off x="4279392" y="4754880"/>
            <a:ext cx="3520440" cy="1417320"/>
          </a:xfrm>
          <a:prstGeom prst="roundRect">
            <a:avLst>
              <a:gd name="adj" fmla="val 6000"/>
            </a:avLst>
          </a:prstGeom>
          <a:solidFill>
            <a:srgbClr val="F4F0FD"/>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TextBox 151"/>
          <p:cNvSpPr txBox="1"/>
          <p:nvPr/>
        </p:nvSpPr>
        <p:spPr>
          <a:xfrm>
            <a:off x="4553712" y="4846320"/>
            <a:ext cx="3017520" cy="685800"/>
          </a:xfrm>
          <a:prstGeom prst="rect">
            <a:avLst/>
          </a:prstGeom>
          <a:noFill/>
        </p:spPr>
        <p:txBody>
          <a:bodyPr wrap="square" lIns="0" rIns="0" tIns="0" bIns="0" anchor="ctr">
            <a:spAutoFit/>
          </a:bodyPr>
          <a:lstStyle/>
          <a:p>
            <a:pPr algn="l">
              <a:spcAft>
                <a:spcPts val="600"/>
              </a:spcAft>
            </a:pPr>
            <a:r>
              <a:rPr sz="3200" b="1" i="0">
                <a:solidFill>
                  <a:srgbClr val="6D28D9"/>
                </a:solidFill>
                <a:latin typeface="Calibri"/>
              </a:rPr>
              <a:t>0.42 s</a:t>
            </a:r>
          </a:p>
        </p:txBody>
      </p:sp>
      <p:sp>
        <p:nvSpPr>
          <p:cNvPr id="153" name="TextBox 152"/>
          <p:cNvSpPr txBox="1"/>
          <p:nvPr/>
        </p:nvSpPr>
        <p:spPr>
          <a:xfrm>
            <a:off x="4553712" y="5559552"/>
            <a:ext cx="3017520" cy="502920"/>
          </a:xfrm>
          <a:prstGeom prst="rect">
            <a:avLst/>
          </a:prstGeom>
          <a:noFill/>
        </p:spPr>
        <p:txBody>
          <a:bodyPr wrap="square" lIns="0" rIns="0" tIns="0" bIns="0" anchor="t">
            <a:spAutoFit/>
          </a:bodyPr>
          <a:lstStyle/>
          <a:p>
            <a:pPr algn="l">
              <a:spcAft>
                <a:spcPts val="600"/>
              </a:spcAft>
            </a:pPr>
            <a:r>
              <a:rPr sz="1300" b="0" i="0">
                <a:solidFill>
                  <a:srgbClr val="55556E"/>
                </a:solidFill>
                <a:latin typeface="Calibri"/>
              </a:rPr>
              <a:t>to re-index after a small release</a:t>
            </a:r>
          </a:p>
        </p:txBody>
      </p:sp>
      <p:sp>
        <p:nvSpPr>
          <p:cNvPr id="154" name="Rounded Rectangle 153"/>
          <p:cNvSpPr/>
          <p:nvPr/>
        </p:nvSpPr>
        <p:spPr>
          <a:xfrm>
            <a:off x="8010144" y="4754880"/>
            <a:ext cx="3520440" cy="1417320"/>
          </a:xfrm>
          <a:prstGeom prst="roundRect">
            <a:avLst>
              <a:gd name="adj" fmla="val 6000"/>
            </a:avLst>
          </a:prstGeom>
          <a:solidFill>
            <a:srgbClr val="F4F0FD"/>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TextBox 154"/>
          <p:cNvSpPr txBox="1"/>
          <p:nvPr/>
        </p:nvSpPr>
        <p:spPr>
          <a:xfrm>
            <a:off x="8284464" y="4846320"/>
            <a:ext cx="3017520" cy="685800"/>
          </a:xfrm>
          <a:prstGeom prst="rect">
            <a:avLst/>
          </a:prstGeom>
          <a:noFill/>
        </p:spPr>
        <p:txBody>
          <a:bodyPr wrap="square" lIns="0" rIns="0" tIns="0" bIns="0" anchor="ctr">
            <a:spAutoFit/>
          </a:bodyPr>
          <a:lstStyle/>
          <a:p>
            <a:pPr algn="l">
              <a:spcAft>
                <a:spcPts val="600"/>
              </a:spcAft>
            </a:pPr>
            <a:r>
              <a:rPr sz="3200" b="1" i="0">
                <a:solidFill>
                  <a:srgbClr val="6D28D9"/>
                </a:solidFill>
                <a:latin typeface="Calibri"/>
              </a:rPr>
              <a:t>−28%</a:t>
            </a:r>
          </a:p>
        </p:txBody>
      </p:sp>
      <p:sp>
        <p:nvSpPr>
          <p:cNvPr id="156" name="TextBox 155"/>
          <p:cNvSpPr txBox="1"/>
          <p:nvPr/>
        </p:nvSpPr>
        <p:spPr>
          <a:xfrm>
            <a:off x="8284464" y="5559552"/>
            <a:ext cx="3017520" cy="502920"/>
          </a:xfrm>
          <a:prstGeom prst="rect">
            <a:avLst/>
          </a:prstGeom>
          <a:noFill/>
        </p:spPr>
        <p:txBody>
          <a:bodyPr wrap="square" lIns="0" rIns="0" tIns="0" bIns="0" anchor="t">
            <a:spAutoFit/>
          </a:bodyPr>
          <a:lstStyle/>
          <a:p>
            <a:pPr algn="l">
              <a:spcAft>
                <a:spcPts val="600"/>
              </a:spcAft>
            </a:pPr>
            <a:r>
              <a:rPr sz="1300" b="0" i="0">
                <a:solidFill>
                  <a:srgbClr val="55556E"/>
                </a:solidFill>
                <a:latin typeface="Calibri"/>
              </a:rPr>
              <a:t>embedding work across 4 versions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8"/>
          <p:cNvSpPr txBox="1"/>
          <p:nvPr>
            <p:ph type="title"/>
          </p:nvPr>
        </p:nvSpPr>
        <p:spPr>
          <a:xfrm>
            <a:off x="548640" y="320040"/>
            <a:ext cx="11064240" cy="731520"/>
          </a:xfrm>
          <a:prstGeom prst="rect">
            <a:avLst/>
          </a:prstGeom>
          <a:noFill/>
          <a:ln>
            <a:noFill/>
          </a:ln>
        </p:spPr>
        <p:txBody>
          <a:bodyPr anchorCtr="0" anchor="ctr" bIns="45700" lIns="91425" spcFirstLastPara="1" rIns="91425" wrap="square" tIns="45700"/>
          <a:lstStyle/>
          <a:p>
            <a:pPr indent="0" lvl="0" marL="0" rtl="0" algn="l">
              <a:lnSpc>
                <a:spcPct val="90000"/>
              </a:lnSpc>
              <a:spcBef>
                <a:spcPts val="0"/>
              </a:spcBef>
              <a:spcAft>
                <a:spcPts val="0"/>
              </a:spcAft>
              <a:buClr>
                <a:srgbClr val="704EA6"/>
              </a:buClr>
              <a:buSzPts val="4400"/>
              <a:buFont typeface="Calibri"/>
              <a:buNone/>
            </a:pPr>
            <a:r>
              <a:rPr b="1" lang="en-US" sz="3000">
                <a:solidFill>
                  <a:srgbClr val="704EA6"/>
                </a:solidFill>
                <a:latin typeface="Calibri"/>
                <a:ea typeface="Calibri"/>
                <a:cs typeface="Calibri"/>
                <a:sym typeface="Calibri"/>
              </a:rPr>
              <a:t>Innovation highlights, results and limitations</a:t>
            </a:r>
            <a:endParaRPr b="1" sz="4400">
              <a:solidFill>
                <a:srgbClr val="704EA6"/>
              </a:solidFill>
            </a:endParaRPr>
          </a:p>
        </p:txBody>
      </p:sp>
      <p:sp>
        <p:nvSpPr>
          <p:cNvPr id="138" name="Rounded Rectangle 137"/>
          <p:cNvSpPr/>
          <p:nvPr/>
        </p:nvSpPr>
        <p:spPr>
          <a:xfrm>
            <a:off x="548640" y="1188720"/>
            <a:ext cx="3383280" cy="4983480"/>
          </a:xfrm>
          <a:prstGeom prst="roundRect">
            <a:avLst>
              <a:gd name="adj" fmla="val 6000"/>
            </a:avLst>
          </a:prstGeom>
          <a:solidFill>
            <a:srgbClr val="F4F0FD"/>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TextBox 138"/>
          <p:cNvSpPr txBox="1"/>
          <p:nvPr/>
        </p:nvSpPr>
        <p:spPr>
          <a:xfrm>
            <a:off x="777240" y="1325880"/>
            <a:ext cx="2926080" cy="365760"/>
          </a:xfrm>
          <a:prstGeom prst="rect">
            <a:avLst/>
          </a:prstGeom>
          <a:noFill/>
        </p:spPr>
        <p:txBody>
          <a:bodyPr wrap="square" lIns="0" rIns="0" tIns="0" bIns="0" anchor="t">
            <a:spAutoFit/>
          </a:bodyPr>
          <a:lstStyle/>
          <a:p>
            <a:pPr algn="l">
              <a:spcAft>
                <a:spcPts val="600"/>
              </a:spcAft>
            </a:pPr>
            <a:r>
              <a:rPr sz="1800" b="1" i="0">
                <a:solidFill>
                  <a:srgbClr val="6D28D9"/>
                </a:solidFill>
                <a:latin typeface="Calibri"/>
              </a:rPr>
              <a:t>Innovation</a:t>
            </a:r>
          </a:p>
        </p:txBody>
      </p:sp>
      <p:sp>
        <p:nvSpPr>
          <p:cNvPr id="140" name="TextBox 139"/>
          <p:cNvSpPr txBox="1"/>
          <p:nvPr/>
        </p:nvSpPr>
        <p:spPr>
          <a:xfrm>
            <a:off x="777240" y="1783080"/>
            <a:ext cx="2971800" cy="4297680"/>
          </a:xfrm>
          <a:prstGeom prst="rect">
            <a:avLst/>
          </a:prstGeom>
          <a:noFill/>
        </p:spPr>
        <p:txBody>
          <a:bodyPr wrap="square" lIns="0" rIns="0" tIns="0" bIns="0" anchor="t">
            <a:spAutoFit/>
          </a:bodyPr>
          <a:lstStyle/>
          <a:p>
            <a:pPr algn="l" marL="201168" indent="-201168">
              <a:spcAft>
                <a:spcPts val="800"/>
              </a:spcAft>
              <a:buClr>
                <a:srgbClr val="6D28D9"/>
              </a:buClr>
              <a:buFont typeface="Arial"/>
              <a:buChar char="•"/>
            </a:pPr>
            <a:r>
              <a:rPr sz="1300" b="0" i="0">
                <a:solidFill>
                  <a:srgbClr val="14142B"/>
                </a:solidFill>
                <a:latin typeface="Calibri"/>
              </a:rPr>
              <a:t>Query cleanup (desc-io) so the model sees intent, not sample test data</a:t>
            </a:r>
          </a:p>
          <a:p>
            <a:pPr algn="l" marL="201168" indent="-201168">
              <a:spcAft>
                <a:spcPts val="800"/>
              </a:spcAft>
              <a:buClr>
                <a:srgbClr val="6D28D9"/>
              </a:buClr>
              <a:buFont typeface="Arial"/>
              <a:buChar char="•"/>
            </a:pPr>
            <a:r>
              <a:rPr sz="1300" b="0" i="0">
                <a:solidFill>
                  <a:srgbClr val="14142B"/>
                </a:solidFill>
                <a:latin typeface="Calibri"/>
              </a:rPr>
              <a:t>Fine-tuned on APPS train only; no test data touched</a:t>
            </a:r>
          </a:p>
          <a:p>
            <a:pPr algn="l" marL="201168" indent="-201168">
              <a:spcAft>
                <a:spcPts val="800"/>
              </a:spcAft>
              <a:buClr>
                <a:srgbClr val="6D28D9"/>
              </a:buClr>
              <a:buFont typeface="Arial"/>
              <a:buChar char="•"/>
            </a:pPr>
            <a:r>
              <a:rPr sz="1300" b="0" i="0">
                <a:solidFill>
                  <a:srgbClr val="14142B"/>
                </a:solidFill>
                <a:latin typeface="Calibri"/>
              </a:rPr>
              <a:t>Content-hash cache: unchanged or moved code is never re-embedded</a:t>
            </a:r>
          </a:p>
          <a:p>
            <a:pPr algn="l" marL="201168" indent="-201168">
              <a:spcAft>
                <a:spcPts val="800"/>
              </a:spcAft>
              <a:buClr>
                <a:srgbClr val="6D28D9"/>
              </a:buClr>
              <a:buFont typeface="Arial"/>
              <a:buChar char="•"/>
            </a:pPr>
            <a:r>
              <a:rPr sz="1300" b="0" i="0">
                <a:solidFill>
                  <a:srgbClr val="14142B"/>
                </a:solidFill>
                <a:latin typeface="Calibri"/>
              </a:rPr>
              <a:t>Lineage grouping to search all versions at once</a:t>
            </a:r>
          </a:p>
        </p:txBody>
      </p:sp>
      <p:sp>
        <p:nvSpPr>
          <p:cNvPr id="141" name="Rounded Rectangle 140"/>
          <p:cNvSpPr/>
          <p:nvPr/>
        </p:nvSpPr>
        <p:spPr>
          <a:xfrm>
            <a:off x="8229600" y="1188720"/>
            <a:ext cx="3383280" cy="4983480"/>
          </a:xfrm>
          <a:prstGeom prst="roundRect">
            <a:avLst>
              <a:gd name="adj" fmla="val 6000"/>
            </a:avLst>
          </a:prstGeom>
          <a:solidFill>
            <a:srgbClr val="F4F0FD"/>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Box 141"/>
          <p:cNvSpPr txBox="1"/>
          <p:nvPr/>
        </p:nvSpPr>
        <p:spPr>
          <a:xfrm>
            <a:off x="8458200" y="1325880"/>
            <a:ext cx="2926080" cy="365760"/>
          </a:xfrm>
          <a:prstGeom prst="rect">
            <a:avLst/>
          </a:prstGeom>
          <a:noFill/>
        </p:spPr>
        <p:txBody>
          <a:bodyPr wrap="square" lIns="0" rIns="0" tIns="0" bIns="0" anchor="t">
            <a:spAutoFit/>
          </a:bodyPr>
          <a:lstStyle/>
          <a:p>
            <a:pPr algn="l">
              <a:spcAft>
                <a:spcPts val="600"/>
              </a:spcAft>
            </a:pPr>
            <a:r>
              <a:rPr sz="1800" b="1" i="0">
                <a:solidFill>
                  <a:srgbClr val="B45309"/>
                </a:solidFill>
                <a:latin typeface="Calibri"/>
              </a:rPr>
              <a:t>Limitations</a:t>
            </a:r>
          </a:p>
        </p:txBody>
      </p:sp>
      <p:sp>
        <p:nvSpPr>
          <p:cNvPr id="143" name="TextBox 142"/>
          <p:cNvSpPr txBox="1"/>
          <p:nvPr/>
        </p:nvSpPr>
        <p:spPr>
          <a:xfrm>
            <a:off x="8458200" y="1783080"/>
            <a:ext cx="2971800" cy="4297680"/>
          </a:xfrm>
          <a:prstGeom prst="rect">
            <a:avLst/>
          </a:prstGeom>
          <a:noFill/>
        </p:spPr>
        <p:txBody>
          <a:bodyPr wrap="square" lIns="0" rIns="0" tIns="0" bIns="0" anchor="t">
            <a:spAutoFit/>
          </a:bodyPr>
          <a:lstStyle/>
          <a:p>
            <a:pPr algn="l" marL="201168" indent="-201168">
              <a:spcAft>
                <a:spcPts val="800"/>
              </a:spcAft>
              <a:buClr>
                <a:srgbClr val="6D28D9"/>
              </a:buClr>
              <a:buFont typeface="Arial"/>
              <a:buChar char="•"/>
            </a:pPr>
            <a:r>
              <a:rPr sz="1300" b="0" i="0">
                <a:solidFill>
                  <a:srgbClr val="14142B"/>
                </a:solidFill>
                <a:latin typeface="Calibri"/>
              </a:rPr>
              <a:t>Function-level chunks for Python only; other files are indexed whole</a:t>
            </a:r>
          </a:p>
          <a:p>
            <a:pPr algn="l" marL="201168" indent="-201168">
              <a:spcAft>
                <a:spcPts val="800"/>
              </a:spcAft>
              <a:buClr>
                <a:srgbClr val="6D28D9"/>
              </a:buClr>
              <a:buFont typeface="Arial"/>
              <a:buChar char="•"/>
            </a:pPr>
            <a:r>
              <a:rPr sz="1300" b="0" i="0">
                <a:solidFill>
                  <a:srgbClr val="14142B"/>
                </a:solidFill>
                <a:latin typeface="Calibri"/>
              </a:rPr>
              <a:t>Versioning tested on one real repo (psf/requests)</a:t>
            </a:r>
          </a:p>
          <a:p>
            <a:pPr algn="l" marL="201168" indent="-201168">
              <a:spcAft>
                <a:spcPts val="800"/>
              </a:spcAft>
              <a:buClr>
                <a:srgbClr val="6D28D9"/>
              </a:buClr>
              <a:buFont typeface="Arial"/>
              <a:buChar char="•"/>
            </a:pPr>
            <a:r>
              <a:rPr sz="1300" b="0" i="0">
                <a:solidFill>
                  <a:srgbClr val="14142B"/>
                </a:solidFill>
                <a:latin typeface="Calibri"/>
              </a:rPr>
              <a:t>No query categorisation yet</a:t>
            </a:r>
          </a:p>
          <a:p>
            <a:pPr algn="l" marL="201168" indent="-201168">
              <a:spcAft>
                <a:spcPts val="800"/>
              </a:spcAft>
              <a:buClr>
                <a:srgbClr val="6D28D9"/>
              </a:buClr>
              <a:buFont typeface="Arial"/>
              <a:buChar char="•"/>
            </a:pPr>
            <a:r>
              <a:rPr sz="1300" b="0" i="0">
                <a:solidFill>
                  <a:srgbClr val="14142B"/>
                </a:solidFill>
                <a:latin typeface="Calibri"/>
              </a:rPr>
              <a:t>Build times measured on a T4 GPU; queries run on CPU</a:t>
            </a:r>
          </a:p>
        </p:txBody>
      </p:sp>
      <p:sp>
        <p:nvSpPr>
          <p:cNvPr id="144" name="TextBox 143"/>
          <p:cNvSpPr txBox="1"/>
          <p:nvPr/>
        </p:nvSpPr>
        <p:spPr>
          <a:xfrm>
            <a:off x="4160520" y="1188720"/>
            <a:ext cx="3840480" cy="365760"/>
          </a:xfrm>
          <a:prstGeom prst="rect">
            <a:avLst/>
          </a:prstGeom>
          <a:noFill/>
        </p:spPr>
        <p:txBody>
          <a:bodyPr wrap="square" lIns="0" rIns="0" tIns="0" bIns="0" anchor="t">
            <a:spAutoFit/>
          </a:bodyPr>
          <a:lstStyle/>
          <a:p>
            <a:pPr algn="l">
              <a:spcAft>
                <a:spcPts val="600"/>
              </a:spcAft>
            </a:pPr>
            <a:r>
              <a:rPr sz="1800" b="1" i="0">
                <a:solidFill>
                  <a:srgbClr val="0E8A62"/>
                </a:solidFill>
                <a:latin typeface="Calibri"/>
              </a:rPr>
              <a:t>Results</a:t>
            </a:r>
          </a:p>
        </p:txBody>
      </p:sp>
      <p:graphicFrame>
        <p:nvGraphicFramePr>
          <p:cNvPr id="145" name="Chart 144"/>
          <p:cNvGraphicFramePr>
            <a:graphicFrameLocks noGrp="1"/>
          </p:cNvGraphicFramePr>
          <p:nvPr/>
        </p:nvGraphicFramePr>
        <p:xfrm>
          <a:off x="4114800" y="1572768"/>
          <a:ext cx="3886200" cy="2240280"/>
        </p:xfrm>
        <a:graphic>
          <a:graphicData uri="http://schemas.openxmlformats.org/drawingml/2006/chart">
            <c:chart r:id="rId3"/>
          </a:graphicData>
        </a:graphic>
      </p:graphicFrame>
      <p:graphicFrame>
        <p:nvGraphicFramePr>
          <p:cNvPr id="146" name="Table 145"/>
          <p:cNvGraphicFramePr>
            <a:graphicFrameLocks noGrp="1"/>
          </p:cNvGraphicFramePr>
          <p:nvPr/>
        </p:nvGraphicFramePr>
        <p:xfrm>
          <a:off x="4114800" y="3886200"/>
          <a:ext cx="3886200" cy="2240280"/>
        </p:xfrm>
        <a:graphic>
          <a:graphicData uri="http://schemas.openxmlformats.org/drawingml/2006/table">
            <a:tbl>
              <a:tblPr firstRow="0" bandRow="0"/>
              <a:tblGrid>
                <a:gridCol w="685800"/>
                <a:gridCol w="2011680"/>
                <a:gridCol w="1188720"/>
              </a:tblGrid>
              <a:tr h="320040">
                <a:tc>
                  <a:txBody>
                    <a:bodyPr wrap="square"/>
                    <a:lstStyle/>
                    <a:p>
                      <a:r>
                        <a:rPr sz="1100" b="1">
                          <a:solidFill>
                            <a:srgbClr val="FFFFFF"/>
                          </a:solidFill>
                          <a:latin typeface="Calibri"/>
                        </a:rPr>
                        <a:t>Goal</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00" b="1">
                          <a:solidFill>
                            <a:srgbClr val="FFFFFF"/>
                          </a:solidFill>
                          <a:latin typeface="Calibri"/>
                        </a:rPr>
                        <a:t>Metric</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00" b="1">
                          <a:solidFill>
                            <a:srgbClr val="FFFFFF"/>
                          </a:solidFill>
                          <a:latin typeface="Calibri"/>
                        </a:rPr>
                        <a:t>Result</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r>
              <a:tr h="320040">
                <a:tc>
                  <a:txBody>
                    <a:bodyPr wrap="square"/>
                    <a:lstStyle/>
                    <a:p>
                      <a:r>
                        <a:rPr sz="1100" b="0">
                          <a:solidFill>
                            <a:srgbClr val="14142B"/>
                          </a:solidFill>
                          <a:latin typeface="Calibri"/>
                        </a:rPr>
                        <a:t>P0</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00" b="0">
                          <a:solidFill>
                            <a:srgbClr val="14142B"/>
                          </a:solidFill>
                          <a:latin typeface="Calibri"/>
                        </a:rPr>
                        <a:t>NDCG@10 (base 0.237)</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00" b="1">
                          <a:solidFill>
                            <a:srgbClr val="0E8A62"/>
                          </a:solidFill>
                          <a:latin typeface="Calibri"/>
                        </a:rPr>
                        <a:t>0.472</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r>
              <a:tr h="320040">
                <a:tc>
                  <a:txBody>
                    <a:bodyPr wrap="square"/>
                    <a:lstStyle/>
                    <a:p>
                      <a:r>
                        <a:rPr sz="1100" b="0">
                          <a:solidFill>
                            <a:srgbClr val="14142B"/>
                          </a:solidFill>
                          <a:latin typeface="Calibri"/>
                        </a:rPr>
                        <a:t>P0</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00" b="0">
                          <a:solidFill>
                            <a:srgbClr val="14142B"/>
                          </a:solidFill>
                          <a:latin typeface="Calibri"/>
                        </a:rPr>
                        <a:t>MRR@10 (base 0.207)</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00" b="1">
                          <a:solidFill>
                            <a:srgbClr val="0E8A62"/>
                          </a:solidFill>
                          <a:latin typeface="Calibri"/>
                        </a:rPr>
                        <a:t>0.432</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r>
              <a:tr h="320040">
                <a:tc>
                  <a:txBody>
                    <a:bodyPr wrap="square"/>
                    <a:lstStyle/>
                    <a:p>
                      <a:r>
                        <a:rPr sz="1100" b="0">
                          <a:solidFill>
                            <a:srgbClr val="14142B"/>
                          </a:solidFill>
                          <a:latin typeface="Calibri"/>
                        </a:rPr>
                        <a:t>Speed</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00" b="0">
                          <a:solidFill>
                            <a:srgbClr val="14142B"/>
                          </a:solidFill>
                          <a:latin typeface="Calibri"/>
                        </a:rPr>
                        <a:t>Query latency on CPU</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00" b="1">
                          <a:solidFill>
                            <a:srgbClr val="0E8A62"/>
                          </a:solidFill>
                          <a:latin typeface="Calibri"/>
                        </a:rPr>
                        <a:t>28 ms</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r>
              <a:tr h="320040">
                <a:tc>
                  <a:txBody>
                    <a:bodyPr wrap="square"/>
                    <a:lstStyle/>
                    <a:p>
                      <a:r>
                        <a:rPr sz="1100" b="0">
                          <a:solidFill>
                            <a:srgbClr val="14142B"/>
                          </a:solidFill>
                          <a:latin typeface="Calibri"/>
                        </a:rPr>
                        <a:t>P1</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00" b="0">
                          <a:solidFill>
                            <a:srgbClr val="14142B"/>
                          </a:solidFill>
                          <a:latin typeface="Calibri"/>
                        </a:rPr>
                        <a:t>Rebuild after small release</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00" b="1">
                          <a:solidFill>
                            <a:srgbClr val="0E8A62"/>
                          </a:solidFill>
                          <a:latin typeface="Calibri"/>
                        </a:rPr>
                        <a:t>45× faster</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r>
              <a:tr h="320040">
                <a:tc>
                  <a:txBody>
                    <a:bodyPr wrap="square"/>
                    <a:lstStyle/>
                    <a:p>
                      <a:r>
                        <a:rPr sz="1100" b="0">
                          <a:solidFill>
                            <a:srgbClr val="14142B"/>
                          </a:solidFill>
                          <a:latin typeface="Calibri"/>
                        </a:rPr>
                        <a:t>P1</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00" b="0">
                          <a:solidFill>
                            <a:srgbClr val="14142B"/>
                          </a:solidFill>
                          <a:latin typeface="Calibri"/>
                        </a:rPr>
                        <a:t>4 versions, 2013–2024</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00" b="1">
                          <a:solidFill>
                            <a:srgbClr val="0E8A62"/>
                          </a:solidFill>
                          <a:latin typeface="Calibri"/>
                        </a:rPr>
                        <a:t>28% less work</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r>
              <a:tr h="320040">
                <a:tc>
                  <a:txBody>
                    <a:bodyPr wrap="square"/>
                    <a:lstStyle/>
                    <a:p>
                      <a:r>
                        <a:rPr sz="1100" b="0">
                          <a:solidFill>
                            <a:srgbClr val="14142B"/>
                          </a:solidFill>
                          <a:latin typeface="Calibri"/>
                        </a:rPr>
                        <a:t>Bonus</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00" b="0">
                          <a:solidFill>
                            <a:srgbClr val="14142B"/>
                          </a:solidFill>
                          <a:latin typeface="Calibri"/>
                        </a:rPr>
                        <a:t>Unique functions in top 10</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100" b="1">
                          <a:solidFill>
                            <a:srgbClr val="0E8A62"/>
                          </a:solidFill>
                          <a:latin typeface="Calibri"/>
                        </a:rPr>
                        <a:t>4.0 → 10.0</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txBox="1"/>
          <p:nvPr>
            <p:ph type="title"/>
          </p:nvPr>
        </p:nvSpPr>
        <p:spPr>
          <a:xfrm>
            <a:off x="548640" y="320040"/>
            <a:ext cx="11064240" cy="731520"/>
          </a:xfrm>
          <a:prstGeom prst="rect">
            <a:avLst/>
          </a:prstGeom>
          <a:noFill/>
          <a:ln>
            <a:noFill/>
          </a:ln>
        </p:spPr>
        <p:txBody>
          <a:bodyPr anchorCtr="0" anchor="ctr" bIns="45700" lIns="91425" spcFirstLastPara="1" rIns="91425" wrap="square" tIns="45700"/>
          <a:lstStyle/>
          <a:p>
            <a:pPr indent="0" lvl="0" marL="0" rtl="0" algn="l">
              <a:lnSpc>
                <a:spcPct val="90000"/>
              </a:lnSpc>
              <a:spcBef>
                <a:spcPts val="0"/>
              </a:spcBef>
              <a:spcAft>
                <a:spcPts val="0"/>
              </a:spcAft>
              <a:buClr>
                <a:srgbClr val="704EA6"/>
              </a:buClr>
              <a:buSzPts val="4400"/>
              <a:buFont typeface="Calibri"/>
              <a:buNone/>
            </a:pPr>
            <a:r>
              <a:rPr b="1" lang="en-US" sz="3000">
                <a:solidFill>
                  <a:srgbClr val="704EA6"/>
                </a:solidFill>
                <a:latin typeface="Calibri"/>
                <a:ea typeface="Calibri"/>
                <a:cs typeface="Calibri"/>
                <a:sym typeface="Calibri"/>
              </a:rPr>
              <a:t>What’s next</a:t>
            </a:r>
            <a:endParaRPr b="1" sz="4400">
              <a:solidFill>
                <a:srgbClr val="704EA6"/>
              </a:solidFill>
            </a:endParaRPr>
          </a:p>
        </p:txBody>
      </p:sp>
      <p:cxnSp>
        <p:nvCxnSpPr>
          <p:cNvPr id="144" name="Connector 143"/>
          <p:cNvCxnSpPr/>
          <p:nvPr/>
        </p:nvCxnSpPr>
        <p:spPr>
          <a:xfrm>
            <a:off x="822960" y="1874519"/>
            <a:ext cx="10515600" cy="0"/>
          </a:xfrm>
          <a:prstGeom prst="line">
            <a:avLst/>
          </a:prstGeom>
          <a:ln w="31750">
            <a:solidFill>
              <a:srgbClr val="DCD2F5"/>
            </a:solidFill>
          </a:ln>
        </p:spPr>
        <p:style>
          <a:lnRef idx="2">
            <a:schemeClr val="accent1"/>
          </a:lnRef>
          <a:fillRef idx="0">
            <a:schemeClr val="accent1"/>
          </a:fillRef>
          <a:effectRef idx="1">
            <a:schemeClr val="accent1"/>
          </a:effectRef>
          <a:fontRef idx="minor">
            <a:schemeClr val="tx1"/>
          </a:fontRef>
        </p:style>
      </p:cxnSp>
      <p:sp>
        <p:nvSpPr>
          <p:cNvPr id="145" name="Oval 144"/>
          <p:cNvSpPr/>
          <p:nvPr/>
        </p:nvSpPr>
        <p:spPr>
          <a:xfrm>
            <a:off x="1417319" y="1645920"/>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46" name="Rounded Rectangle 145"/>
          <p:cNvSpPr/>
          <p:nvPr/>
        </p:nvSpPr>
        <p:spPr>
          <a:xfrm>
            <a:off x="548640" y="2377440"/>
            <a:ext cx="2103120" cy="3108960"/>
          </a:xfrm>
          <a:prstGeom prst="roundRect">
            <a:avLst>
              <a:gd name="adj" fmla="val 6000"/>
            </a:avLst>
          </a:prstGeom>
          <a:solidFill>
            <a:srgbClr val="F4F0FD"/>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TextBox 146"/>
          <p:cNvSpPr txBox="1"/>
          <p:nvPr/>
        </p:nvSpPr>
        <p:spPr>
          <a:xfrm>
            <a:off x="731520" y="2542032"/>
            <a:ext cx="1737360" cy="685800"/>
          </a:xfrm>
          <a:prstGeom prst="rect">
            <a:avLst/>
          </a:prstGeom>
          <a:noFill/>
        </p:spPr>
        <p:txBody>
          <a:bodyPr wrap="square" lIns="0" rIns="0" tIns="0" bIns="0" anchor="t">
            <a:spAutoFit/>
          </a:bodyPr>
          <a:lstStyle/>
          <a:p>
            <a:pPr algn="l">
              <a:spcAft>
                <a:spcPts val="600"/>
              </a:spcAft>
            </a:pPr>
            <a:r>
              <a:rPr sz="1500" b="1" i="0">
                <a:solidFill>
                  <a:srgbClr val="14142B"/>
                </a:solidFill>
                <a:latin typeface="Calibri"/>
              </a:rPr>
              <a:t>Categorise the query</a:t>
            </a:r>
          </a:p>
        </p:txBody>
      </p:sp>
      <p:sp>
        <p:nvSpPr>
          <p:cNvPr id="148" name="TextBox 147"/>
          <p:cNvSpPr txBox="1"/>
          <p:nvPr/>
        </p:nvSpPr>
        <p:spPr>
          <a:xfrm>
            <a:off x="731520" y="3291840"/>
            <a:ext cx="1737360" cy="2194560"/>
          </a:xfrm>
          <a:prstGeom prst="rect">
            <a:avLst/>
          </a:prstGeom>
          <a:noFill/>
        </p:spPr>
        <p:txBody>
          <a:bodyPr wrap="square" lIns="0" rIns="0" tIns="0" bIns="0" anchor="t">
            <a:spAutoFit/>
          </a:bodyPr>
          <a:lstStyle/>
          <a:p>
            <a:pPr algn="l">
              <a:spcAft>
                <a:spcPts val="600"/>
              </a:spcAft>
            </a:pPr>
            <a:r>
              <a:rPr sz="1450" b="0" i="0">
                <a:solidFill>
                  <a:srgbClr val="55556E"/>
                </a:solidFill>
                <a:latin typeface="Calibri"/>
              </a:rPr>
              <a:t>Route short intents ("where is retry logic") and long problem statements through different cleanup steps.</a:t>
            </a:r>
          </a:p>
        </p:txBody>
      </p:sp>
      <p:sp>
        <p:nvSpPr>
          <p:cNvPr id="149" name="Oval 148"/>
          <p:cNvSpPr/>
          <p:nvPr/>
        </p:nvSpPr>
        <p:spPr>
          <a:xfrm>
            <a:off x="3675888" y="1645920"/>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50" name="Rounded Rectangle 149"/>
          <p:cNvSpPr/>
          <p:nvPr/>
        </p:nvSpPr>
        <p:spPr>
          <a:xfrm>
            <a:off x="2807208" y="2377440"/>
            <a:ext cx="2103120" cy="3108960"/>
          </a:xfrm>
          <a:prstGeom prst="roundRect">
            <a:avLst>
              <a:gd name="adj" fmla="val 6000"/>
            </a:avLst>
          </a:prstGeom>
          <a:solidFill>
            <a:srgbClr val="F4F0FD"/>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TextBox 150"/>
          <p:cNvSpPr txBox="1"/>
          <p:nvPr/>
        </p:nvSpPr>
        <p:spPr>
          <a:xfrm>
            <a:off x="2990088" y="2542032"/>
            <a:ext cx="1737360" cy="685800"/>
          </a:xfrm>
          <a:prstGeom prst="rect">
            <a:avLst/>
          </a:prstGeom>
          <a:noFill/>
        </p:spPr>
        <p:txBody>
          <a:bodyPr wrap="square" lIns="0" rIns="0" tIns="0" bIns="0" anchor="t">
            <a:spAutoFit/>
          </a:bodyPr>
          <a:lstStyle/>
          <a:p>
            <a:pPr algn="l">
              <a:spcAft>
                <a:spcPts val="600"/>
              </a:spcAft>
            </a:pPr>
            <a:r>
              <a:rPr sz="1500" b="1" i="0">
                <a:solidFill>
                  <a:srgbClr val="14142B"/>
                </a:solidFill>
                <a:latin typeface="Calibri"/>
              </a:rPr>
              <a:t>Second retrieval pass</a:t>
            </a:r>
          </a:p>
        </p:txBody>
      </p:sp>
      <p:sp>
        <p:nvSpPr>
          <p:cNvPr id="152" name="TextBox 151"/>
          <p:cNvSpPr txBox="1"/>
          <p:nvPr/>
        </p:nvSpPr>
        <p:spPr>
          <a:xfrm>
            <a:off x="2990088" y="3291840"/>
            <a:ext cx="1737360" cy="2194560"/>
          </a:xfrm>
          <a:prstGeom prst="rect">
            <a:avLst/>
          </a:prstGeom>
          <a:noFill/>
        </p:spPr>
        <p:txBody>
          <a:bodyPr wrap="square" lIns="0" rIns="0" tIns="0" bIns="0" anchor="t">
            <a:spAutoFit/>
          </a:bodyPr>
          <a:lstStyle/>
          <a:p>
            <a:pPr algn="l">
              <a:spcAft>
                <a:spcPts val="600"/>
              </a:spcAft>
            </a:pPr>
            <a:r>
              <a:rPr sz="1450" b="0" i="0">
                <a:solidFill>
                  <a:srgbClr val="55556E"/>
                </a:solidFill>
                <a:latin typeface="Calibri"/>
              </a:rPr>
              <a:t>Hybrid BM25 + dense recall, then a small CPU reranker on the top 50.</a:t>
            </a:r>
          </a:p>
        </p:txBody>
      </p:sp>
      <p:sp>
        <p:nvSpPr>
          <p:cNvPr id="153" name="Oval 152"/>
          <p:cNvSpPr/>
          <p:nvPr/>
        </p:nvSpPr>
        <p:spPr>
          <a:xfrm>
            <a:off x="5934456" y="1645920"/>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54" name="Rounded Rectangle 153"/>
          <p:cNvSpPr/>
          <p:nvPr/>
        </p:nvSpPr>
        <p:spPr>
          <a:xfrm>
            <a:off x="5065776" y="2377440"/>
            <a:ext cx="2103120" cy="3108960"/>
          </a:xfrm>
          <a:prstGeom prst="roundRect">
            <a:avLst>
              <a:gd name="adj" fmla="val 6000"/>
            </a:avLst>
          </a:prstGeom>
          <a:solidFill>
            <a:srgbClr val="F4F0FD"/>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TextBox 154"/>
          <p:cNvSpPr txBox="1"/>
          <p:nvPr/>
        </p:nvSpPr>
        <p:spPr>
          <a:xfrm>
            <a:off x="5248656" y="2542032"/>
            <a:ext cx="1737360" cy="685800"/>
          </a:xfrm>
          <a:prstGeom prst="rect">
            <a:avLst/>
          </a:prstGeom>
          <a:noFill/>
        </p:spPr>
        <p:txBody>
          <a:bodyPr wrap="square" lIns="0" rIns="0" tIns="0" bIns="0" anchor="t">
            <a:spAutoFit/>
          </a:bodyPr>
          <a:lstStyle/>
          <a:p>
            <a:pPr algn="l">
              <a:spcAft>
                <a:spcPts val="600"/>
              </a:spcAft>
            </a:pPr>
            <a:r>
              <a:rPr sz="1500" b="1" i="0">
                <a:solidFill>
                  <a:srgbClr val="14142B"/>
                </a:solidFill>
                <a:latin typeface="Calibri"/>
              </a:rPr>
              <a:t>More languages</a:t>
            </a:r>
          </a:p>
        </p:txBody>
      </p:sp>
      <p:sp>
        <p:nvSpPr>
          <p:cNvPr id="156" name="TextBox 155"/>
          <p:cNvSpPr txBox="1"/>
          <p:nvPr/>
        </p:nvSpPr>
        <p:spPr>
          <a:xfrm>
            <a:off x="5248656" y="3291840"/>
            <a:ext cx="1737360" cy="2194560"/>
          </a:xfrm>
          <a:prstGeom prst="rect">
            <a:avLst/>
          </a:prstGeom>
          <a:noFill/>
        </p:spPr>
        <p:txBody>
          <a:bodyPr wrap="square" lIns="0" rIns="0" tIns="0" bIns="0" anchor="t">
            <a:spAutoFit/>
          </a:bodyPr>
          <a:lstStyle/>
          <a:p>
            <a:pPr algn="l">
              <a:spcAft>
                <a:spcPts val="600"/>
              </a:spcAft>
            </a:pPr>
            <a:r>
              <a:rPr sz="1450" b="0" i="0">
                <a:solidFill>
                  <a:srgbClr val="55556E"/>
                </a:solidFill>
                <a:latin typeface="Calibri"/>
              </a:rPr>
              <a:t>Tree-sitter chunking so Java, C++, Kotlin and JS get function-level chunks too.</a:t>
            </a:r>
          </a:p>
        </p:txBody>
      </p:sp>
      <p:sp>
        <p:nvSpPr>
          <p:cNvPr id="157" name="Oval 156"/>
          <p:cNvSpPr/>
          <p:nvPr/>
        </p:nvSpPr>
        <p:spPr>
          <a:xfrm>
            <a:off x="8193023" y="1645920"/>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58" name="Rounded Rectangle 157"/>
          <p:cNvSpPr/>
          <p:nvPr/>
        </p:nvSpPr>
        <p:spPr>
          <a:xfrm>
            <a:off x="7324344" y="2377440"/>
            <a:ext cx="2103120" cy="3108960"/>
          </a:xfrm>
          <a:prstGeom prst="roundRect">
            <a:avLst>
              <a:gd name="adj" fmla="val 6000"/>
            </a:avLst>
          </a:prstGeom>
          <a:solidFill>
            <a:srgbClr val="F4F0FD"/>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TextBox 158"/>
          <p:cNvSpPr txBox="1"/>
          <p:nvPr/>
        </p:nvSpPr>
        <p:spPr>
          <a:xfrm>
            <a:off x="7507223" y="2542032"/>
            <a:ext cx="1737360" cy="685800"/>
          </a:xfrm>
          <a:prstGeom prst="rect">
            <a:avLst/>
          </a:prstGeom>
          <a:noFill/>
        </p:spPr>
        <p:txBody>
          <a:bodyPr wrap="square" lIns="0" rIns="0" tIns="0" bIns="0" anchor="t">
            <a:spAutoFit/>
          </a:bodyPr>
          <a:lstStyle/>
          <a:p>
            <a:pPr algn="l">
              <a:spcAft>
                <a:spcPts val="600"/>
              </a:spcAft>
            </a:pPr>
            <a:r>
              <a:rPr sz="1500" b="1" i="0">
                <a:solidFill>
                  <a:srgbClr val="14142B"/>
                </a:solidFill>
                <a:latin typeface="Calibri"/>
              </a:rPr>
              <a:t>Bigger and more repos</a:t>
            </a:r>
          </a:p>
        </p:txBody>
      </p:sp>
      <p:sp>
        <p:nvSpPr>
          <p:cNvPr id="160" name="TextBox 159"/>
          <p:cNvSpPr txBox="1"/>
          <p:nvPr/>
        </p:nvSpPr>
        <p:spPr>
          <a:xfrm>
            <a:off x="7507223" y="3291840"/>
            <a:ext cx="1737360" cy="2194560"/>
          </a:xfrm>
          <a:prstGeom prst="rect">
            <a:avLst/>
          </a:prstGeom>
          <a:noFill/>
        </p:spPr>
        <p:txBody>
          <a:bodyPr wrap="square" lIns="0" rIns="0" tIns="0" bIns="0" anchor="t">
            <a:spAutoFit/>
          </a:bodyPr>
          <a:lstStyle/>
          <a:p>
            <a:pPr algn="l">
              <a:spcAft>
                <a:spcPts val="600"/>
              </a:spcAft>
            </a:pPr>
            <a:r>
              <a:rPr sz="1450" b="0" i="0">
                <a:solidFill>
                  <a:srgbClr val="55556E"/>
                </a:solidFill>
                <a:latin typeface="Calibri"/>
              </a:rPr>
              <a:t>Benchmark P1 on large monorepos and many more commits.</a:t>
            </a:r>
          </a:p>
        </p:txBody>
      </p:sp>
      <p:sp>
        <p:nvSpPr>
          <p:cNvPr id="161" name="Oval 160"/>
          <p:cNvSpPr/>
          <p:nvPr/>
        </p:nvSpPr>
        <p:spPr>
          <a:xfrm>
            <a:off x="10451592" y="1645920"/>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62" name="Rounded Rectangle 161"/>
          <p:cNvSpPr/>
          <p:nvPr/>
        </p:nvSpPr>
        <p:spPr>
          <a:xfrm>
            <a:off x="9582912" y="2377440"/>
            <a:ext cx="2103120" cy="3108960"/>
          </a:xfrm>
          <a:prstGeom prst="roundRect">
            <a:avLst>
              <a:gd name="adj" fmla="val 6000"/>
            </a:avLst>
          </a:prstGeom>
          <a:solidFill>
            <a:srgbClr val="F4F0FD"/>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TextBox 162"/>
          <p:cNvSpPr txBox="1"/>
          <p:nvPr/>
        </p:nvSpPr>
        <p:spPr>
          <a:xfrm>
            <a:off x="9765792" y="2542032"/>
            <a:ext cx="1737360" cy="685800"/>
          </a:xfrm>
          <a:prstGeom prst="rect">
            <a:avLst/>
          </a:prstGeom>
          <a:noFill/>
        </p:spPr>
        <p:txBody>
          <a:bodyPr wrap="square" lIns="0" rIns="0" tIns="0" bIns="0" anchor="t">
            <a:spAutoFit/>
          </a:bodyPr>
          <a:lstStyle/>
          <a:p>
            <a:pPr algn="l">
              <a:spcAft>
                <a:spcPts val="600"/>
              </a:spcAft>
            </a:pPr>
            <a:r>
              <a:rPr sz="1500" b="1" i="0">
                <a:solidFill>
                  <a:srgbClr val="14142B"/>
                </a:solidFill>
                <a:latin typeface="Calibri"/>
              </a:rPr>
              <a:t>Plug into agents</a:t>
            </a:r>
          </a:p>
        </p:txBody>
      </p:sp>
      <p:sp>
        <p:nvSpPr>
          <p:cNvPr id="164" name="TextBox 163"/>
          <p:cNvSpPr txBox="1"/>
          <p:nvPr/>
        </p:nvSpPr>
        <p:spPr>
          <a:xfrm>
            <a:off x="9765792" y="3291840"/>
            <a:ext cx="1737360" cy="2194560"/>
          </a:xfrm>
          <a:prstGeom prst="rect">
            <a:avLst/>
          </a:prstGeom>
          <a:noFill/>
        </p:spPr>
        <p:txBody>
          <a:bodyPr wrap="square" lIns="0" rIns="0" tIns="0" bIns="0" anchor="t">
            <a:spAutoFit/>
          </a:bodyPr>
          <a:lstStyle/>
          <a:p>
            <a:pPr algn="l">
              <a:spcAft>
                <a:spcPts val="600"/>
              </a:spcAft>
            </a:pPr>
            <a:r>
              <a:rPr sz="1450" b="0" i="0">
                <a:solidFill>
                  <a:srgbClr val="55556E"/>
                </a:solidFill>
                <a:latin typeface="Calibri"/>
              </a:rPr>
              <a:t>Expose search as a tool (e.g. an MCP server) that coding agents can call.</a:t>
            </a:r>
          </a:p>
        </p:txBody>
      </p:sp>
      <p:sp>
        <p:nvSpPr>
          <p:cNvPr id="165" name="TextBox 164"/>
          <p:cNvSpPr txBox="1"/>
          <p:nvPr/>
        </p:nvSpPr>
        <p:spPr>
          <a:xfrm>
            <a:off x="548640" y="5715000"/>
            <a:ext cx="11064240" cy="457200"/>
          </a:xfrm>
          <a:prstGeom prst="rect">
            <a:avLst/>
          </a:prstGeom>
          <a:noFill/>
        </p:spPr>
        <p:txBody>
          <a:bodyPr wrap="square" lIns="0" rIns="0" tIns="0" bIns="0" anchor="t">
            <a:spAutoFit/>
          </a:bodyPr>
          <a:lstStyle/>
          <a:p>
            <a:pPr algn="l">
              <a:spcAft>
                <a:spcPts val="600"/>
              </a:spcAft>
            </a:pPr>
            <a:r>
              <a:rPr sz="1300" b="0" i="0">
                <a:solidFill>
                  <a:srgbClr val="55556E"/>
                </a:solidFill>
                <a:latin typeface="Calibri"/>
              </a:rPr>
              <a:t>All of this stays on the retrieval side. Generating answers after retrieval is out of scope for this theme.</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0"/>
          <p:cNvSpPr txBox="1"/>
          <p:nvPr>
            <p:ph type="title"/>
          </p:nvPr>
        </p:nvSpPr>
        <p:spPr>
          <a:xfrm>
            <a:off x="548640" y="320040"/>
            <a:ext cx="11064240" cy="731520"/>
          </a:xfrm>
          <a:prstGeom prst="rect">
            <a:avLst/>
          </a:prstGeom>
          <a:noFill/>
          <a:ln>
            <a:noFill/>
          </a:ln>
        </p:spPr>
        <p:txBody>
          <a:bodyPr anchorCtr="0" anchor="ctr" bIns="45700" lIns="91425" spcFirstLastPara="1" rIns="91425" wrap="square" tIns="45700"/>
          <a:lstStyle/>
          <a:p>
            <a:pPr indent="0" lvl="0" marL="0" rtl="0" algn="l">
              <a:lnSpc>
                <a:spcPct val="90000"/>
              </a:lnSpc>
              <a:spcBef>
                <a:spcPts val="0"/>
              </a:spcBef>
              <a:spcAft>
                <a:spcPts val="0"/>
              </a:spcAft>
              <a:buClr>
                <a:srgbClr val="704EA6"/>
              </a:buClr>
              <a:buSzPts val="4400"/>
              <a:buFont typeface="Calibri"/>
              <a:buNone/>
            </a:pPr>
            <a:r>
              <a:rPr b="1" lang="en-US" sz="3000">
                <a:solidFill>
                  <a:srgbClr val="704EA6"/>
                </a:solidFill>
                <a:latin typeface="Calibri"/>
                <a:ea typeface="Calibri"/>
                <a:cs typeface="Calibri"/>
                <a:sym typeface="Calibri"/>
              </a:rPr>
              <a:t>Brownie points (differentiation)</a:t>
            </a:r>
            <a:endParaRPr b="1" sz="4400">
              <a:solidFill>
                <a:srgbClr val="704EA6"/>
              </a:solidFill>
            </a:endParaRPr>
          </a:p>
        </p:txBody>
      </p:sp>
      <p:sp>
        <p:nvSpPr>
          <p:cNvPr id="150" name="TextBox 149"/>
          <p:cNvSpPr txBox="1"/>
          <p:nvPr/>
        </p:nvSpPr>
        <p:spPr>
          <a:xfrm>
            <a:off x="548640" y="1097280"/>
            <a:ext cx="6400800" cy="320040"/>
          </a:xfrm>
          <a:prstGeom prst="rect">
            <a:avLst/>
          </a:prstGeom>
          <a:noFill/>
        </p:spPr>
        <p:txBody>
          <a:bodyPr wrap="square" lIns="0" rIns="0" tIns="0" bIns="0" anchor="t">
            <a:spAutoFit/>
          </a:bodyPr>
          <a:lstStyle/>
          <a:p>
            <a:pPr algn="l">
              <a:spcAft>
                <a:spcPts val="600"/>
              </a:spcAft>
            </a:pPr>
            <a:r>
              <a:rPr sz="1600" b="1" i="0">
                <a:solidFill>
                  <a:srgbClr val="6D28D9"/>
                </a:solidFill>
                <a:latin typeface="Calibri"/>
              </a:rPr>
              <a:t>Bonus: evolutionary retrieval, search every version at once</a:t>
            </a:r>
          </a:p>
        </p:txBody>
      </p:sp>
      <p:sp>
        <p:nvSpPr>
          <p:cNvPr id="151" name="TextBox 150"/>
          <p:cNvSpPr txBox="1"/>
          <p:nvPr/>
        </p:nvSpPr>
        <p:spPr>
          <a:xfrm>
            <a:off x="548640" y="1554480"/>
            <a:ext cx="6035040" cy="2286000"/>
          </a:xfrm>
          <a:prstGeom prst="rect">
            <a:avLst/>
          </a:prstGeom>
          <a:noFill/>
        </p:spPr>
        <p:txBody>
          <a:bodyPr wrap="square" lIns="0" rIns="0" tIns="0" bIns="0" anchor="t">
            <a:spAutoFit/>
          </a:bodyPr>
          <a:lstStyle/>
          <a:p>
            <a:pPr algn="l">
              <a:spcAft>
                <a:spcPts val="800"/>
              </a:spcAft>
            </a:pPr>
            <a:r>
              <a:rPr sz="1350" b="1" i="0">
                <a:solidFill>
                  <a:srgbClr val="B45309"/>
                </a:solidFill>
                <a:latin typeface="Calibri"/>
              </a:rPr>
              <a:t>Problem: </a:t>
            </a:r>
            <a:r>
              <a:rPr sz="1350" b="0" i="0">
                <a:solidFill>
                  <a:srgbClr val="14142B"/>
                </a:solidFill>
                <a:latin typeface="Calibri"/>
              </a:rPr>
              <a:t>a function exists in every version, so a flat search fills the top 10 with near-copies.</a:t>
            </a:r>
          </a:p>
          <a:p>
            <a:pPr algn="l">
              <a:spcAft>
                <a:spcPts val="800"/>
              </a:spcAft>
            </a:pPr>
            <a:r>
              <a:rPr sz="1350" b="1" i="0">
                <a:solidFill>
                  <a:srgbClr val="0E8A62"/>
                </a:solidFill>
                <a:latin typeface="Calibri"/>
              </a:rPr>
              <a:t>What we do: </a:t>
            </a:r>
            <a:r>
              <a:rPr sz="1350" b="0" i="0">
                <a:solidFill>
                  <a:srgbClr val="14142B"/>
                </a:solidFill>
                <a:latin typeface="Calibri"/>
              </a:rPr>
              <a:t>group results into lineages (same function across versions, even after requests/ → src/requests/, plus near-duplicates above 0.95 similarity) and show each once.</a:t>
            </a:r>
          </a:p>
          <a:p>
            <a:pPr algn="l">
              <a:spcAft>
                <a:spcPts val="800"/>
              </a:spcAft>
            </a:pPr>
            <a:r>
              <a:rPr sz="1350" b="1" i="0">
                <a:solidFill>
                  <a:srgbClr val="6D28D9"/>
                </a:solidFill>
                <a:latin typeface="Calibri"/>
              </a:rPr>
              <a:t>Cost: </a:t>
            </a:r>
            <a:r>
              <a:rPr sz="1350" b="0" i="0">
                <a:solidFill>
                  <a:srgbClr val="14142B"/>
                </a:solidFill>
                <a:latin typeface="Calibri"/>
              </a:rPr>
              <a:t>no re-embedding; it reuses the per-version indexes and adds 7–12 ms.</a:t>
            </a:r>
          </a:p>
        </p:txBody>
      </p:sp>
      <p:sp>
        <p:nvSpPr>
          <p:cNvPr id="152" name="Rounded Rectangle 151"/>
          <p:cNvSpPr/>
          <p:nvPr/>
        </p:nvSpPr>
        <p:spPr>
          <a:xfrm>
            <a:off x="548640" y="3931920"/>
            <a:ext cx="6035040" cy="1325880"/>
          </a:xfrm>
          <a:prstGeom prst="roundRect">
            <a:avLst>
              <a:gd name="adj" fmla="val 6000"/>
            </a:avLst>
          </a:prstGeom>
          <a:solidFill>
            <a:srgbClr val="FFFFFF"/>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TextBox 152"/>
          <p:cNvSpPr txBox="1"/>
          <p:nvPr/>
        </p:nvSpPr>
        <p:spPr>
          <a:xfrm>
            <a:off x="777240" y="4023360"/>
            <a:ext cx="5669280" cy="274320"/>
          </a:xfrm>
          <a:prstGeom prst="rect">
            <a:avLst/>
          </a:prstGeom>
          <a:noFill/>
        </p:spPr>
        <p:txBody>
          <a:bodyPr wrap="square" lIns="0" rIns="0" tIns="0" bIns="0" anchor="t">
            <a:spAutoFit/>
          </a:bodyPr>
          <a:lstStyle/>
          <a:p>
            <a:pPr algn="l">
              <a:spcAft>
                <a:spcPts val="600"/>
              </a:spcAft>
            </a:pPr>
            <a:r>
              <a:rPr sz="1150" b="0" i="1">
                <a:solidFill>
                  <a:srgbClr val="55556E"/>
                </a:solidFill>
                <a:latin typeface="Calibri"/>
              </a:rPr>
              <a:t>"check whether a URL should bypass the proxy using no_proxy"</a:t>
            </a:r>
          </a:p>
        </p:txBody>
      </p:sp>
      <p:sp>
        <p:nvSpPr>
          <p:cNvPr id="154" name="TextBox 153"/>
          <p:cNvSpPr txBox="1"/>
          <p:nvPr/>
        </p:nvSpPr>
        <p:spPr>
          <a:xfrm>
            <a:off x="777240" y="4297680"/>
            <a:ext cx="5669280" cy="274320"/>
          </a:xfrm>
          <a:prstGeom prst="rect">
            <a:avLst/>
          </a:prstGeom>
          <a:noFill/>
        </p:spPr>
        <p:txBody>
          <a:bodyPr wrap="square" lIns="0" rIns="0" tIns="0" bIns="0" anchor="t">
            <a:spAutoFit/>
          </a:bodyPr>
          <a:lstStyle/>
          <a:p>
            <a:pPr algn="l">
              <a:spcAft>
                <a:spcPts val="600"/>
              </a:spcAft>
            </a:pPr>
            <a:r>
              <a:rPr sz="1300" b="1" i="0">
                <a:solidFill>
                  <a:srgbClr val="14142B"/>
                </a:solidFill>
                <a:latin typeface="Calibri"/>
              </a:rPr>
              <a:t>#1 should_bypass_proxies · 0.795</a:t>
            </a:r>
          </a:p>
        </p:txBody>
      </p:sp>
      <p:cxnSp>
        <p:nvCxnSpPr>
          <p:cNvPr id="155" name="Connector 154"/>
          <p:cNvCxnSpPr/>
          <p:nvPr/>
        </p:nvCxnSpPr>
        <p:spPr>
          <a:xfrm>
            <a:off x="1051560" y="4754880"/>
            <a:ext cx="4754880" cy="0"/>
          </a:xfrm>
          <a:prstGeom prst="line">
            <a:avLst/>
          </a:prstGeom>
          <a:ln w="25400">
            <a:solidFill>
              <a:srgbClr val="DCD2F5"/>
            </a:solidFill>
          </a:ln>
        </p:spPr>
        <p:style>
          <a:lnRef idx="2">
            <a:schemeClr val="accent1"/>
          </a:lnRef>
          <a:fillRef idx="0">
            <a:schemeClr val="accent1"/>
          </a:fillRef>
          <a:effectRef idx="1">
            <a:schemeClr val="accent1"/>
          </a:effectRef>
          <a:fontRef idx="minor">
            <a:schemeClr val="tx1"/>
          </a:fontRef>
        </p:style>
      </p:cxnSp>
      <p:sp>
        <p:nvSpPr>
          <p:cNvPr id="156" name="Oval 155"/>
          <p:cNvSpPr/>
          <p:nvPr/>
        </p:nvSpPr>
        <p:spPr>
          <a:xfrm>
            <a:off x="1097280" y="4636008"/>
            <a:ext cx="237744" cy="237744"/>
          </a:xfrm>
          <a:prstGeom prst="ellipse">
            <a:avLst/>
          </a:prstGeom>
          <a:solidFill>
            <a:srgbClr val="FFFFFF"/>
          </a:solidFill>
          <a:ln w="12700">
            <a:solidFill>
              <a:srgbClr val="A0A0B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TextBox 156"/>
          <p:cNvSpPr txBox="1"/>
          <p:nvPr/>
        </p:nvSpPr>
        <p:spPr>
          <a:xfrm>
            <a:off x="640080" y="4901184"/>
            <a:ext cx="1188720" cy="201168"/>
          </a:xfrm>
          <a:prstGeom prst="rect">
            <a:avLst/>
          </a:prstGeom>
          <a:noFill/>
        </p:spPr>
        <p:txBody>
          <a:bodyPr wrap="square" lIns="0" rIns="0" tIns="0" bIns="0" anchor="t">
            <a:spAutoFit/>
          </a:bodyPr>
          <a:lstStyle/>
          <a:p>
            <a:pPr algn="ctr">
              <a:spcAft>
                <a:spcPts val="600"/>
              </a:spcAft>
            </a:pPr>
            <a:r>
              <a:rPr sz="1000" b="0" i="0">
                <a:solidFill>
                  <a:srgbClr val="55556E"/>
                </a:solidFill>
                <a:latin typeface="Calibri"/>
              </a:rPr>
              <a:t>v2.0.0 (absent)</a:t>
            </a:r>
          </a:p>
        </p:txBody>
      </p:sp>
      <p:sp>
        <p:nvSpPr>
          <p:cNvPr id="158" name="Oval 157"/>
          <p:cNvSpPr/>
          <p:nvPr/>
        </p:nvSpPr>
        <p:spPr>
          <a:xfrm>
            <a:off x="2606039" y="4636008"/>
            <a:ext cx="237744" cy="237744"/>
          </a:xfrm>
          <a:prstGeom prst="ellipse">
            <a:avLst/>
          </a:prstGeom>
          <a:solidFill>
            <a:srgbClr val="0E8A62"/>
          </a:solidFill>
          <a:ln w="12700">
            <a:solidFill>
              <a:srgbClr val="0E8A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TextBox 158"/>
          <p:cNvSpPr txBox="1"/>
          <p:nvPr/>
        </p:nvSpPr>
        <p:spPr>
          <a:xfrm>
            <a:off x="2148839" y="4901184"/>
            <a:ext cx="1188720" cy="201168"/>
          </a:xfrm>
          <a:prstGeom prst="rect">
            <a:avLst/>
          </a:prstGeom>
          <a:noFill/>
        </p:spPr>
        <p:txBody>
          <a:bodyPr wrap="square" lIns="0" rIns="0" tIns="0" bIns="0" anchor="t">
            <a:spAutoFit/>
          </a:bodyPr>
          <a:lstStyle/>
          <a:p>
            <a:pPr algn="ctr">
              <a:spcAft>
                <a:spcPts val="600"/>
              </a:spcAft>
            </a:pPr>
            <a:r>
              <a:rPr sz="1000" b="0" i="0">
                <a:solidFill>
                  <a:srgbClr val="55556E"/>
                </a:solidFill>
                <a:latin typeface="Calibri"/>
              </a:rPr>
              <a:t>v2.12.0</a:t>
            </a:r>
          </a:p>
        </p:txBody>
      </p:sp>
      <p:sp>
        <p:nvSpPr>
          <p:cNvPr id="160" name="Oval 159"/>
          <p:cNvSpPr/>
          <p:nvPr/>
        </p:nvSpPr>
        <p:spPr>
          <a:xfrm>
            <a:off x="4114800" y="4636008"/>
            <a:ext cx="237744" cy="237744"/>
          </a:xfrm>
          <a:prstGeom prst="ellipse">
            <a:avLst/>
          </a:prstGeom>
          <a:solidFill>
            <a:srgbClr val="0E8A62"/>
          </a:solidFill>
          <a:ln w="12700">
            <a:solidFill>
              <a:srgbClr val="0E8A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TextBox 160"/>
          <p:cNvSpPr txBox="1"/>
          <p:nvPr/>
        </p:nvSpPr>
        <p:spPr>
          <a:xfrm>
            <a:off x="3657600" y="4901184"/>
            <a:ext cx="1188720" cy="201168"/>
          </a:xfrm>
          <a:prstGeom prst="rect">
            <a:avLst/>
          </a:prstGeom>
          <a:noFill/>
        </p:spPr>
        <p:txBody>
          <a:bodyPr wrap="square" lIns="0" rIns="0" tIns="0" bIns="0" anchor="t">
            <a:spAutoFit/>
          </a:bodyPr>
          <a:lstStyle/>
          <a:p>
            <a:pPr algn="ctr">
              <a:spcAft>
                <a:spcPts val="600"/>
              </a:spcAft>
            </a:pPr>
            <a:r>
              <a:rPr sz="1000" b="0" i="0">
                <a:solidFill>
                  <a:srgbClr val="55556E"/>
                </a:solidFill>
                <a:latin typeface="Calibri"/>
              </a:rPr>
              <a:t>v2.25.0</a:t>
            </a:r>
          </a:p>
        </p:txBody>
      </p:sp>
      <p:sp>
        <p:nvSpPr>
          <p:cNvPr id="162" name="Oval 161"/>
          <p:cNvSpPr/>
          <p:nvPr/>
        </p:nvSpPr>
        <p:spPr>
          <a:xfrm>
            <a:off x="5623559" y="4636008"/>
            <a:ext cx="237744" cy="237744"/>
          </a:xfrm>
          <a:prstGeom prst="ellipse">
            <a:avLst/>
          </a:prstGeom>
          <a:solidFill>
            <a:srgbClr val="0E8A62"/>
          </a:solidFill>
          <a:ln w="12700">
            <a:solidFill>
              <a:srgbClr val="0E8A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TextBox 162"/>
          <p:cNvSpPr txBox="1"/>
          <p:nvPr/>
        </p:nvSpPr>
        <p:spPr>
          <a:xfrm>
            <a:off x="5166359" y="4901184"/>
            <a:ext cx="1188720" cy="201168"/>
          </a:xfrm>
          <a:prstGeom prst="rect">
            <a:avLst/>
          </a:prstGeom>
          <a:noFill/>
        </p:spPr>
        <p:txBody>
          <a:bodyPr wrap="square" lIns="0" rIns="0" tIns="0" bIns="0" anchor="t">
            <a:spAutoFit/>
          </a:bodyPr>
          <a:lstStyle/>
          <a:p>
            <a:pPr algn="ctr">
              <a:spcAft>
                <a:spcPts val="600"/>
              </a:spcAft>
            </a:pPr>
            <a:r>
              <a:rPr sz="1000" b="0" i="0">
                <a:solidFill>
                  <a:srgbClr val="55556E"/>
                </a:solidFill>
                <a:latin typeface="Calibri"/>
              </a:rPr>
              <a:t>v2.32.3</a:t>
            </a:r>
          </a:p>
        </p:txBody>
      </p:sp>
      <p:graphicFrame>
        <p:nvGraphicFramePr>
          <p:cNvPr id="164" name="Table 163"/>
          <p:cNvGraphicFramePr>
            <a:graphicFrameLocks noGrp="1"/>
          </p:cNvGraphicFramePr>
          <p:nvPr/>
        </p:nvGraphicFramePr>
        <p:xfrm>
          <a:off x="6903720" y="1554480"/>
          <a:ext cx="4709160" cy="1234440"/>
        </p:xfrm>
        <a:graphic>
          <a:graphicData uri="http://schemas.openxmlformats.org/drawingml/2006/table">
            <a:tbl>
              <a:tblPr firstRow="0" bandRow="0"/>
              <a:tblGrid>
                <a:gridCol w="2514600"/>
                <a:gridCol w="1097280"/>
                <a:gridCol w="1097280"/>
              </a:tblGrid>
              <a:tr h="411480">
                <a:tc>
                  <a:txBody>
                    <a:bodyPr wrap="square"/>
                    <a:lstStyle/>
                    <a:p>
                      <a:r>
                        <a:rPr sz="1300" b="1">
                          <a:solidFill>
                            <a:srgbClr val="FFFFFF"/>
                          </a:solidFill>
                          <a:latin typeface="Calibri"/>
                        </a:rPr>
                        <a:t>Top 10, avg over 5 queries</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1">
                          <a:solidFill>
                            <a:srgbClr val="FFFFFF"/>
                          </a:solidFill>
                          <a:latin typeface="Calibri"/>
                        </a:rPr>
                        <a:t>Flat</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1">
                          <a:solidFill>
                            <a:srgbClr val="FFFFFF"/>
                          </a:solidFill>
                          <a:latin typeface="Calibri"/>
                        </a:rPr>
                        <a:t>Grouped</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r>
              <a:tr h="411480">
                <a:tc>
                  <a:txBody>
                    <a:bodyPr wrap="square"/>
                    <a:lstStyle/>
                    <a:p>
                      <a:r>
                        <a:rPr sz="1300" b="0">
                          <a:solidFill>
                            <a:srgbClr val="14142B"/>
                          </a:solidFill>
                          <a:latin typeface="Calibri"/>
                        </a:rPr>
                        <a:t>Duplicates</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0">
                          <a:solidFill>
                            <a:srgbClr val="14142B"/>
                          </a:solidFill>
                          <a:latin typeface="Calibri"/>
                        </a:rPr>
                        <a:t>6.0</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1">
                          <a:solidFill>
                            <a:srgbClr val="0E8A62"/>
                          </a:solidFill>
                          <a:latin typeface="Calibri"/>
                        </a:rPr>
                        <a:t>0</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r>
              <a:tr h="411480">
                <a:tc>
                  <a:txBody>
                    <a:bodyPr wrap="square"/>
                    <a:lstStyle/>
                    <a:p>
                      <a:r>
                        <a:rPr sz="1300" b="0">
                          <a:solidFill>
                            <a:srgbClr val="14142B"/>
                          </a:solidFill>
                          <a:latin typeface="Calibri"/>
                        </a:rPr>
                        <a:t>Unique functions</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0">
                          <a:solidFill>
                            <a:srgbClr val="14142B"/>
                          </a:solidFill>
                          <a:latin typeface="Calibri"/>
                        </a:rPr>
                        <a:t>4.0</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1">
                          <a:solidFill>
                            <a:srgbClr val="0E8A62"/>
                          </a:solidFill>
                          <a:latin typeface="Calibri"/>
                        </a:rPr>
                        <a:t>10.0</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r>
            </a:tbl>
          </a:graphicData>
        </a:graphic>
      </p:graphicFrame>
      <p:sp>
        <p:nvSpPr>
          <p:cNvPr id="165" name="TextBox 164"/>
          <p:cNvSpPr txBox="1"/>
          <p:nvPr/>
        </p:nvSpPr>
        <p:spPr>
          <a:xfrm>
            <a:off x="6903720" y="3017520"/>
            <a:ext cx="4709160" cy="320040"/>
          </a:xfrm>
          <a:prstGeom prst="rect">
            <a:avLst/>
          </a:prstGeom>
          <a:noFill/>
        </p:spPr>
        <p:txBody>
          <a:bodyPr wrap="square" lIns="0" rIns="0" tIns="0" bIns="0" anchor="t">
            <a:spAutoFit/>
          </a:bodyPr>
          <a:lstStyle/>
          <a:p>
            <a:pPr algn="l">
              <a:spcAft>
                <a:spcPts val="600"/>
              </a:spcAft>
            </a:pPr>
            <a:r>
              <a:rPr sz="1600" b="1" i="0">
                <a:solidFill>
                  <a:srgbClr val="6D28D9"/>
                </a:solidFill>
                <a:latin typeface="Calibri"/>
              </a:rPr>
              <a:t>Other things we are proud of</a:t>
            </a:r>
          </a:p>
        </p:txBody>
      </p:sp>
      <p:sp>
        <p:nvSpPr>
          <p:cNvPr id="166" name="TextBox 165"/>
          <p:cNvSpPr txBox="1"/>
          <p:nvPr/>
        </p:nvSpPr>
        <p:spPr>
          <a:xfrm>
            <a:off x="6903720" y="3429000"/>
            <a:ext cx="4709160" cy="2743200"/>
          </a:xfrm>
          <a:prstGeom prst="rect">
            <a:avLst/>
          </a:prstGeom>
          <a:noFill/>
        </p:spPr>
        <p:txBody>
          <a:bodyPr wrap="square" lIns="0" rIns="0" tIns="0" bIns="0" anchor="t">
            <a:spAutoFit/>
          </a:bodyPr>
          <a:lstStyle/>
          <a:p>
            <a:pPr algn="l" marL="201168" indent="-201168">
              <a:spcAft>
                <a:spcPts val="600"/>
              </a:spcAft>
              <a:buClr>
                <a:srgbClr val="6D28D9"/>
              </a:buClr>
              <a:buFont typeface="Arial"/>
              <a:buChar char="•"/>
            </a:pPr>
            <a:r>
              <a:rPr sz="1300" b="0" i="0">
                <a:solidFill>
                  <a:srgbClr val="14142B"/>
                </a:solidFill>
                <a:latin typeface="Calibri"/>
              </a:rPr>
              <a:t>Found a silent transformers v5 bug (uninitialised NomicBert buffers) that corrupts embeddings, and fixed it</a:t>
            </a:r>
          </a:p>
          <a:p>
            <a:pPr algn="l" marL="201168" indent="-201168">
              <a:spcAft>
                <a:spcPts val="600"/>
              </a:spcAft>
              <a:buClr>
                <a:srgbClr val="6D28D9"/>
              </a:buClr>
              <a:buFont typeface="Arial"/>
              <a:buChar char="•"/>
            </a:pPr>
            <a:r>
              <a:rPr sz="1300" b="0" i="0">
                <a:solidFill>
                  <a:srgbClr val="14142B"/>
                </a:solidFill>
                <a:latin typeface="Calibri"/>
              </a:rPr>
              <a:t>Incremental builds produce exactly the same index as a full build, and a test checks it</a:t>
            </a:r>
          </a:p>
          <a:p>
            <a:pPr algn="l" marL="201168" indent="-201168">
              <a:spcAft>
                <a:spcPts val="600"/>
              </a:spcAft>
              <a:buClr>
                <a:srgbClr val="6D28D9"/>
              </a:buClr>
              <a:buFont typeface="Arial"/>
              <a:buChar char="•"/>
            </a:pPr>
            <a:r>
              <a:rPr sz="1300" b="0" i="0">
                <a:solidFill>
                  <a:srgbClr val="14142B"/>
                </a:solidFill>
                <a:latin typeface="Calibri"/>
              </a:rPr>
              <a:t>The Space refuses an index built with a different model revision, so results can't silently drift</a:t>
            </a:r>
          </a:p>
          <a:p>
            <a:pPr algn="l" marL="201168" indent="-201168">
              <a:spcAft>
                <a:spcPts val="600"/>
              </a:spcAft>
              <a:buClr>
                <a:srgbClr val="6D28D9"/>
              </a:buClr>
              <a:buFont typeface="Arial"/>
              <a:buChar char="•"/>
            </a:pPr>
            <a:r>
              <a:rPr sz="1300" b="0" i="0">
                <a:solidFill>
                  <a:srgbClr val="14142B"/>
                </a:solidFill>
                <a:latin typeface="Calibri"/>
              </a:rPr>
              <a:t>Everything is public: model, both indexes, code and live demo</a:t>
            </a:r>
          </a:p>
        </p:txBody>
      </p:sp>
      <p:sp>
        <p:nvSpPr>
          <p:cNvPr id="167" name="TextBox 166"/>
          <p:cNvSpPr txBox="1"/>
          <p:nvPr/>
        </p:nvSpPr>
        <p:spPr>
          <a:xfrm>
            <a:off x="548640" y="5349240"/>
            <a:ext cx="6035040" cy="731520"/>
          </a:xfrm>
          <a:prstGeom prst="rect">
            <a:avLst/>
          </a:prstGeom>
          <a:noFill/>
        </p:spPr>
        <p:txBody>
          <a:bodyPr wrap="square" lIns="0" rIns="0" tIns="0" bIns="0" anchor="t">
            <a:spAutoFit/>
          </a:bodyPr>
          <a:lstStyle/>
          <a:p>
            <a:pPr algn="l">
              <a:spcAft>
                <a:spcPts val="600"/>
              </a:spcAft>
            </a:pPr>
            <a:r>
              <a:rPr sz="1100" b="0" i="0">
                <a:solidFill>
                  <a:srgbClr val="55556E"/>
                </a:solidFill>
                <a:latin typeface="Calibri"/>
              </a:rPr>
              <a:t>Filled dot = new or changed in that version; hollow = function not present yet.</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txBox="1"/>
          <p:nvPr>
            <p:ph type="title"/>
          </p:nvPr>
        </p:nvSpPr>
        <p:spPr>
          <a:xfrm>
            <a:off x="548640" y="320040"/>
            <a:ext cx="11064240" cy="731520"/>
          </a:xfrm>
          <a:prstGeom prst="rect">
            <a:avLst/>
          </a:prstGeom>
          <a:noFill/>
          <a:ln>
            <a:noFill/>
          </a:ln>
        </p:spPr>
        <p:txBody>
          <a:bodyPr anchorCtr="0" anchor="ctr" bIns="45700" lIns="91425" spcFirstLastPara="1" rIns="91425" wrap="square" tIns="45700"/>
          <a:lstStyle/>
          <a:p>
            <a:pPr indent="0" lvl="0" marL="0" rtl="0" algn="l">
              <a:lnSpc>
                <a:spcPct val="90000"/>
              </a:lnSpc>
              <a:spcBef>
                <a:spcPts val="0"/>
              </a:spcBef>
              <a:spcAft>
                <a:spcPts val="0"/>
              </a:spcAft>
              <a:buClr>
                <a:srgbClr val="704EA6"/>
              </a:buClr>
              <a:buSzPts val="4400"/>
              <a:buFont typeface="Calibri"/>
              <a:buNone/>
            </a:pPr>
            <a:r>
              <a:rPr b="1" lang="en-US" sz="3000">
                <a:solidFill>
                  <a:srgbClr val="704EA6"/>
                </a:solidFill>
                <a:latin typeface="Calibri"/>
                <a:ea typeface="Calibri"/>
                <a:cs typeface="Calibri"/>
                <a:sym typeface="Calibri"/>
              </a:rPr>
              <a:t>Checklist- Updated on Public GitHub</a:t>
            </a:r>
            <a:endParaRPr/>
          </a:p>
        </p:txBody>
      </p:sp>
      <p:graphicFrame>
        <p:nvGraphicFramePr>
          <p:cNvPr id="156" name="Table 155"/>
          <p:cNvGraphicFramePr>
            <a:graphicFrameLocks noGrp="1"/>
          </p:cNvGraphicFramePr>
          <p:nvPr/>
        </p:nvGraphicFramePr>
        <p:xfrm>
          <a:off x="548640" y="1188720"/>
          <a:ext cx="11064240" cy="2414016"/>
        </p:xfrm>
        <a:graphic>
          <a:graphicData uri="http://schemas.openxmlformats.org/drawingml/2006/table">
            <a:tbl>
              <a:tblPr firstRow="0" bandRow="0"/>
              <a:tblGrid>
                <a:gridCol w="4572000"/>
                <a:gridCol w="1737360"/>
                <a:gridCol w="4754880"/>
              </a:tblGrid>
              <a:tr h="402336">
                <a:tc>
                  <a:txBody>
                    <a:bodyPr wrap="square"/>
                    <a:lstStyle/>
                    <a:p>
                      <a:r>
                        <a:rPr sz="1300" b="1">
                          <a:solidFill>
                            <a:srgbClr val="FFFFFF"/>
                          </a:solidFill>
                          <a:latin typeface="Calibri"/>
                        </a:rPr>
                        <a:t>Item</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1">
                          <a:solidFill>
                            <a:srgbClr val="FFFFFF"/>
                          </a:solidFill>
                          <a:latin typeface="Calibri"/>
                        </a:rPr>
                        <a:t>Status</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1">
                          <a:solidFill>
                            <a:srgbClr val="FFFFFF"/>
                          </a:solidFill>
                          <a:latin typeface="Calibri"/>
                        </a:rPr>
                        <a:t>Where</a:t>
                      </a:r>
                    </a:p>
                  </a:txBody>
                  <a:tcPr marL="73152" marR="73152" marT="27432" marB="27432" anchor="ctr">
                    <a:solidFill>
                      <a:srgbClr val="6D28D9"/>
                    </a:solidFill>
                    <a:lnL w="9525">
                      <a:solidFill>
                        <a:srgbClr val="DCD2F5"/>
                      </a:solidFill>
                    </a:lnL>
                    <a:lnR w="9525">
                      <a:solidFill>
                        <a:srgbClr val="DCD2F5"/>
                      </a:solidFill>
                    </a:lnR>
                    <a:lnT w="9525">
                      <a:solidFill>
                        <a:srgbClr val="DCD2F5"/>
                      </a:solidFill>
                    </a:lnT>
                    <a:lnB w="9525">
                      <a:solidFill>
                        <a:srgbClr val="DCD2F5"/>
                      </a:solidFill>
                    </a:lnB>
                  </a:tcPr>
                </a:tc>
              </a:tr>
              <a:tr h="402336">
                <a:tc>
                  <a:txBody>
                    <a:bodyPr wrap="square"/>
                    <a:lstStyle/>
                    <a:p>
                      <a:r>
                        <a:rPr sz="1300" b="0">
                          <a:solidFill>
                            <a:srgbClr val="14142B"/>
                          </a:solidFill>
                          <a:latin typeface="Calibri"/>
                        </a:rPr>
                        <a:t>Working prototype code: public or shared GitHub repo</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1">
                          <a:solidFill>
                            <a:srgbClr val="0E8A62"/>
                          </a:solidFill>
                          <a:latin typeface="Calibri"/>
                        </a:rPr>
                        <a:t>Y</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0">
                          <a:solidFill>
                            <a:srgbClr val="14142B"/>
                          </a:solidFill>
                          <a:latin typeface="Calibri"/>
                        </a:rPr>
                        <a:t>Release tag PRISM_GENAI_HACKATHON_Y2026</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r>
              <a:tr h="402336">
                <a:tc>
                  <a:txBody>
                    <a:bodyPr wrap="square"/>
                    <a:lstStyle/>
                    <a:p>
                      <a:r>
                        <a:rPr sz="1300" b="0">
                          <a:solidFill>
                            <a:srgbClr val="14142B"/>
                          </a:solidFill>
                          <a:latin typeface="Calibri"/>
                        </a:rPr>
                        <a:t>README with reproducible setup instructions</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1">
                          <a:solidFill>
                            <a:srgbClr val="0E8A62"/>
                          </a:solidFill>
                          <a:latin typeface="Calibri"/>
                        </a:rPr>
                        <a:t>Y</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0">
                          <a:solidFill>
                            <a:srgbClr val="14142B"/>
                          </a:solidFill>
                          <a:latin typeface="Calibri"/>
                        </a:rPr>
                        <a:t>README.md, DEPLOY_SPACE.md, KAGGLE.md</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r>
              <a:tr h="402336">
                <a:tc>
                  <a:txBody>
                    <a:bodyPr wrap="square"/>
                    <a:lstStyle/>
                    <a:p>
                      <a:r>
                        <a:rPr sz="1300" b="0">
                          <a:solidFill>
                            <a:srgbClr val="14142B"/>
                          </a:solidFill>
                          <a:latin typeface="Calibri"/>
                        </a:rPr>
                        <a:t>Demo video, max 5 minutes (YouTube or Drive link)</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1">
                          <a:solidFill>
                            <a:srgbClr val="0E8A62"/>
                          </a:solidFill>
                          <a:latin typeface="Calibri"/>
                        </a:rPr>
                        <a:t>Y</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0">
                          <a:solidFill>
                            <a:srgbClr val="14142B"/>
                          </a:solidFill>
                          <a:latin typeface="Calibri"/>
                        </a:rPr>
                        <a:t>Google Drive folder (link below)</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r>
              <a:tr h="402336">
                <a:tc>
                  <a:txBody>
                    <a:bodyPr wrap="square"/>
                    <a:lstStyle/>
                    <a:p>
                      <a:r>
                        <a:rPr sz="1300" b="0">
                          <a:solidFill>
                            <a:srgbClr val="14142B"/>
                          </a:solidFill>
                          <a:latin typeface="Calibri"/>
                        </a:rPr>
                        <a:t>Presentation file (PPT or PDF)</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1">
                          <a:solidFill>
                            <a:srgbClr val="0E8A62"/>
                          </a:solidFill>
                          <a:latin typeface="Calibri"/>
                        </a:rPr>
                        <a:t>Y</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0">
                          <a:solidFill>
                            <a:srgbClr val="14142B"/>
                          </a:solidFill>
                          <a:latin typeface="Calibri"/>
                        </a:rPr>
                        <a:t>In the tagged commit</a:t>
                      </a:r>
                    </a:p>
                  </a:txBody>
                  <a:tcPr marL="73152" marR="73152" marT="27432" marB="27432" anchor="ctr">
                    <a:solidFill>
                      <a:srgbClr val="FFFFFF"/>
                    </a:solidFill>
                    <a:lnL w="9525">
                      <a:solidFill>
                        <a:srgbClr val="DCD2F5"/>
                      </a:solidFill>
                    </a:lnL>
                    <a:lnR w="9525">
                      <a:solidFill>
                        <a:srgbClr val="DCD2F5"/>
                      </a:solidFill>
                    </a:lnR>
                    <a:lnT w="9525">
                      <a:solidFill>
                        <a:srgbClr val="DCD2F5"/>
                      </a:solidFill>
                    </a:lnT>
                    <a:lnB w="9525">
                      <a:solidFill>
                        <a:srgbClr val="DCD2F5"/>
                      </a:solidFill>
                    </a:lnB>
                  </a:tcPr>
                </a:tc>
              </a:tr>
              <a:tr h="402336">
                <a:tc>
                  <a:txBody>
                    <a:bodyPr wrap="square"/>
                    <a:lstStyle/>
                    <a:p>
                      <a:r>
                        <a:rPr sz="1300" b="0">
                          <a:solidFill>
                            <a:srgbClr val="14142B"/>
                          </a:solidFill>
                          <a:latin typeface="Calibri"/>
                        </a:rPr>
                        <a:t>AppsRetrieval results JSON (MTEB)</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1">
                          <a:solidFill>
                            <a:srgbClr val="0E8A62"/>
                          </a:solidFill>
                          <a:latin typeface="Calibri"/>
                        </a:rPr>
                        <a:t>Y</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c>
                  <a:txBody>
                    <a:bodyPr wrap="square"/>
                    <a:lstStyle/>
                    <a:p>
                      <a:r>
                        <a:rPr sz="1300" b="0">
                          <a:solidFill>
                            <a:srgbClr val="14142B"/>
                          </a:solidFill>
                          <a:latin typeface="Calibri"/>
                        </a:rPr>
                        <a:t>appsretrieval_results.json, attached to the release</a:t>
                      </a:r>
                    </a:p>
                  </a:txBody>
                  <a:tcPr marL="73152" marR="73152" marT="27432" marB="27432" anchor="ctr">
                    <a:solidFill>
                      <a:srgbClr val="F4F0FD"/>
                    </a:solidFill>
                    <a:lnL w="9525">
                      <a:solidFill>
                        <a:srgbClr val="DCD2F5"/>
                      </a:solidFill>
                    </a:lnL>
                    <a:lnR w="9525">
                      <a:solidFill>
                        <a:srgbClr val="DCD2F5"/>
                      </a:solidFill>
                    </a:lnR>
                    <a:lnT w="9525">
                      <a:solidFill>
                        <a:srgbClr val="DCD2F5"/>
                      </a:solidFill>
                    </a:lnT>
                    <a:lnB w="9525">
                      <a:solidFill>
                        <a:srgbClr val="DCD2F5"/>
                      </a:solidFill>
                    </a:lnB>
                  </a:tcPr>
                </a:tc>
              </a:tr>
            </a:tbl>
          </a:graphicData>
        </a:graphic>
      </p:graphicFrame>
      <p:sp>
        <p:nvSpPr>
          <p:cNvPr id="157" name="Rounded Rectangle 156"/>
          <p:cNvSpPr/>
          <p:nvPr/>
        </p:nvSpPr>
        <p:spPr>
          <a:xfrm>
            <a:off x="548640" y="3840480"/>
            <a:ext cx="5440680" cy="2331720"/>
          </a:xfrm>
          <a:prstGeom prst="roundRect">
            <a:avLst>
              <a:gd name="adj" fmla="val 6000"/>
            </a:avLst>
          </a:prstGeom>
          <a:solidFill>
            <a:srgbClr val="F4F0FD"/>
          </a:solidFill>
          <a:ln w="12700">
            <a:solidFill>
              <a:srgbClr val="DCD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TextBox 157"/>
          <p:cNvSpPr txBox="1"/>
          <p:nvPr/>
        </p:nvSpPr>
        <p:spPr>
          <a:xfrm>
            <a:off x="777240" y="3950208"/>
            <a:ext cx="5029200" cy="320040"/>
          </a:xfrm>
          <a:prstGeom prst="rect">
            <a:avLst/>
          </a:prstGeom>
          <a:noFill/>
        </p:spPr>
        <p:txBody>
          <a:bodyPr wrap="square" lIns="0" rIns="0" tIns="0" bIns="0" anchor="t">
            <a:spAutoFit/>
          </a:bodyPr>
          <a:lstStyle/>
          <a:p>
            <a:pPr algn="l">
              <a:spcAft>
                <a:spcPts val="600"/>
              </a:spcAft>
            </a:pPr>
            <a:r>
              <a:rPr sz="1500" b="1" i="0">
                <a:solidFill>
                  <a:srgbClr val="6D28D9"/>
                </a:solidFill>
                <a:latin typeface="Calibri"/>
              </a:rPr>
              <a:t>Links</a:t>
            </a:r>
          </a:p>
        </p:txBody>
      </p:sp>
      <p:sp>
        <p:nvSpPr>
          <p:cNvPr id="159" name="TextBox 158"/>
          <p:cNvSpPr txBox="1"/>
          <p:nvPr/>
        </p:nvSpPr>
        <p:spPr>
          <a:xfrm>
            <a:off x="777240" y="4315968"/>
            <a:ext cx="5074920" cy="1810512"/>
          </a:xfrm>
          <a:prstGeom prst="rect">
            <a:avLst/>
          </a:prstGeom>
          <a:noFill/>
        </p:spPr>
        <p:txBody>
          <a:bodyPr wrap="square" lIns="0" rIns="0" tIns="0" bIns="0" anchor="t">
            <a:spAutoFit/>
          </a:bodyPr>
          <a:lstStyle/>
          <a:p>
            <a:pPr algn="l">
              <a:spcAft>
                <a:spcPts val="300"/>
              </a:spcAft>
            </a:pPr>
            <a:r>
              <a:rPr sz="1150" b="1" i="0">
                <a:solidFill>
                  <a:srgbClr val="14142B"/>
                </a:solidFill>
                <a:latin typeface="Calibri"/>
              </a:rPr>
              <a:t>Code:  </a:t>
            </a:r>
            <a:r>
              <a:rPr sz="1150" b="0" i="0">
                <a:solidFill>
                  <a:srgbClr val="6D28D9"/>
                </a:solidFill>
                <a:latin typeface="Calibri"/>
                <a:hlinkClick r:id="rId3"/>
              </a:rPr>
              <a:t>github.com/madhurgrover-cs/TASIE</a:t>
            </a:r>
          </a:p>
          <a:p>
            <a:pPr algn="l">
              <a:spcAft>
                <a:spcPts val="300"/>
              </a:spcAft>
            </a:pPr>
            <a:r>
              <a:rPr sz="1150" b="1" i="0">
                <a:solidFill>
                  <a:srgbClr val="14142B"/>
                </a:solidFill>
                <a:latin typeface="Calibri"/>
              </a:rPr>
              <a:t>Demo video:  </a:t>
            </a:r>
            <a:r>
              <a:rPr sz="1150" b="0" i="0">
                <a:solidFill>
                  <a:srgbClr val="6D28D9"/>
                </a:solidFill>
                <a:latin typeface="Calibri"/>
                <a:hlinkClick r:id="rId4"/>
              </a:rPr>
              <a:t>Google Drive folder</a:t>
            </a:r>
          </a:p>
          <a:p>
            <a:pPr algn="l">
              <a:spcAft>
                <a:spcPts val="300"/>
              </a:spcAft>
            </a:pPr>
            <a:r>
              <a:rPr sz="1150" b="1" i="0">
                <a:solidFill>
                  <a:srgbClr val="14142B"/>
                </a:solidFill>
                <a:latin typeface="Calibri"/>
              </a:rPr>
              <a:t>Live demo:  </a:t>
            </a:r>
            <a:r>
              <a:rPr sz="1150" b="0" i="0">
                <a:solidFill>
                  <a:srgbClr val="6D28D9"/>
                </a:solidFill>
                <a:latin typeface="Calibri"/>
                <a:hlinkClick r:id="rId5"/>
              </a:rPr>
              <a:t>huggingface.co/spaces/madhurr382/code-search-demo</a:t>
            </a:r>
          </a:p>
          <a:p>
            <a:pPr algn="l">
              <a:spcAft>
                <a:spcPts val="300"/>
              </a:spcAft>
            </a:pPr>
            <a:r>
              <a:rPr sz="1150" b="1" i="0">
                <a:solidFill>
                  <a:srgbClr val="14142B"/>
                </a:solidFill>
                <a:latin typeface="Calibri"/>
              </a:rPr>
              <a:t>Model:  </a:t>
            </a:r>
            <a:r>
              <a:rPr sz="1150" b="0" i="0">
                <a:solidFill>
                  <a:srgbClr val="6D28D9"/>
                </a:solidFill>
                <a:latin typeface="Calibri"/>
                <a:hlinkClick r:id="rId6"/>
              </a:rPr>
              <a:t>huggingface.co/madhurr382/coderankembed-apps-ft</a:t>
            </a:r>
          </a:p>
          <a:p>
            <a:pPr algn="l">
              <a:spcAft>
                <a:spcPts val="300"/>
              </a:spcAft>
            </a:pPr>
            <a:r>
              <a:rPr sz="1150" b="1" i="0">
                <a:solidFill>
                  <a:srgbClr val="14142B"/>
                </a:solidFill>
                <a:latin typeface="Calibri"/>
              </a:rPr>
              <a:t>APPS index:  </a:t>
            </a:r>
            <a:r>
              <a:rPr sz="1150" b="0" i="0">
                <a:solidFill>
                  <a:srgbClr val="6D28D9"/>
                </a:solidFill>
                <a:latin typeface="Calibri"/>
                <a:hlinkClick r:id="rId7"/>
              </a:rPr>
              <a:t>huggingface.co/datasets/madhurr382/apps-corpus-index</a:t>
            </a:r>
          </a:p>
          <a:p>
            <a:pPr algn="l">
              <a:spcAft>
                <a:spcPts val="300"/>
              </a:spcAft>
            </a:pPr>
            <a:r>
              <a:rPr sz="1150" b="1" i="0">
                <a:solidFill>
                  <a:srgbClr val="14142B"/>
                </a:solidFill>
                <a:latin typeface="Calibri"/>
              </a:rPr>
              <a:t>Repo index:  </a:t>
            </a:r>
            <a:r>
              <a:rPr sz="1150" b="0" i="0">
                <a:solidFill>
                  <a:srgbClr val="6D28D9"/>
                </a:solidFill>
                <a:latin typeface="Calibri"/>
                <a:hlinkClick r:id="rId8"/>
              </a:rPr>
              <a:t>huggingface.co/datasets/madhurr382/repo-versions-index</a:t>
            </a:r>
          </a:p>
        </p:txBody>
      </p:sp>
      <p:sp>
        <p:nvSpPr>
          <p:cNvPr id="160" name="Rounded Rectangle 159"/>
          <p:cNvSpPr/>
          <p:nvPr/>
        </p:nvSpPr>
        <p:spPr>
          <a:xfrm>
            <a:off x="6172200" y="3840480"/>
            <a:ext cx="5440680" cy="2331720"/>
          </a:xfrm>
          <a:prstGeom prst="roundRect">
            <a:avLst>
              <a:gd name="adj" fmla="val 6000"/>
            </a:avLst>
          </a:prstGeom>
          <a:solidFill>
            <a:srgbClr val="141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TextBox 160"/>
          <p:cNvSpPr txBox="1"/>
          <p:nvPr/>
        </p:nvSpPr>
        <p:spPr>
          <a:xfrm>
            <a:off x="6400800" y="3950208"/>
            <a:ext cx="5029200" cy="320040"/>
          </a:xfrm>
          <a:prstGeom prst="rect">
            <a:avLst/>
          </a:prstGeom>
          <a:noFill/>
        </p:spPr>
        <p:txBody>
          <a:bodyPr wrap="square" lIns="0" rIns="0" tIns="0" bIns="0" anchor="t">
            <a:spAutoFit/>
          </a:bodyPr>
          <a:lstStyle/>
          <a:p>
            <a:pPr algn="l">
              <a:spcAft>
                <a:spcPts val="600"/>
              </a:spcAft>
            </a:pPr>
            <a:r>
              <a:rPr sz="1500" b="1" i="0">
                <a:solidFill>
                  <a:srgbClr val="C4B5FD"/>
                </a:solidFill>
                <a:latin typeface="Calibri"/>
              </a:rPr>
              <a:t>Run it yourself (CPU)</a:t>
            </a:r>
          </a:p>
        </p:txBody>
      </p:sp>
      <p:sp>
        <p:nvSpPr>
          <p:cNvPr id="162" name="TextBox 161"/>
          <p:cNvSpPr txBox="1"/>
          <p:nvPr/>
        </p:nvSpPr>
        <p:spPr>
          <a:xfrm>
            <a:off x="6400800" y="4343400"/>
            <a:ext cx="5074920" cy="1783080"/>
          </a:xfrm>
          <a:prstGeom prst="rect">
            <a:avLst/>
          </a:prstGeom>
          <a:noFill/>
        </p:spPr>
        <p:txBody>
          <a:bodyPr wrap="square" lIns="0" rIns="0" tIns="0" bIns="0" anchor="t">
            <a:spAutoFit/>
          </a:bodyPr>
          <a:lstStyle/>
          <a:p>
            <a:pPr algn="l">
              <a:spcAft>
                <a:spcPts val="200"/>
              </a:spcAft>
            </a:pPr>
            <a:r>
              <a:rPr sz="900" b="0" i="0">
                <a:solidFill>
                  <a:srgbClr val="8B8BA7"/>
                </a:solidFill>
                <a:latin typeface="Courier New"/>
              </a:rPr>
              <a:t># P0: reproduce the AppsRetrieval JSON</a:t>
            </a:r>
          </a:p>
          <a:p>
            <a:pPr algn="l">
              <a:spcAft>
                <a:spcPts val="200"/>
              </a:spcAft>
            </a:pPr>
            <a:r>
              <a:rPr sz="900" b="0" i="0">
                <a:solidFill>
                  <a:srgbClr val="EDEBFA"/>
                </a:solidFill>
                <a:latin typeface="Courier New"/>
              </a:rPr>
              <a:t>pip install -r requirements-retrieval.txt</a:t>
            </a:r>
          </a:p>
          <a:p>
            <a:pPr algn="l">
              <a:spcAft>
                <a:spcPts val="200"/>
              </a:spcAft>
            </a:pPr>
            <a:r>
              <a:rPr sz="900" b="0" i="0">
                <a:solidFill>
                  <a:srgbClr val="EDEBFA"/>
                </a:solidFill>
                <a:latin typeface="Courier New"/>
              </a:rPr>
              <a:t>python retrieval/submission.py</a:t>
            </a:r>
          </a:p>
          <a:p>
            <a:pPr algn="l">
              <a:spcAft>
                <a:spcPts val="200"/>
              </a:spcAft>
            </a:pPr>
            <a:r>
              <a:rPr sz="900" b="0" i="0">
                <a:solidFill>
                  <a:srgbClr val="8B8BA7"/>
                </a:solidFill>
                <a:latin typeface="Courier New"/>
              </a:rPr>
              <a:t># P1: index a repo, update, query a version</a:t>
            </a:r>
          </a:p>
          <a:p>
            <a:pPr algn="l">
              <a:spcAft>
                <a:spcPts val="200"/>
              </a:spcAft>
            </a:pPr>
            <a:r>
              <a:rPr sz="900" b="0" i="0">
                <a:solidFill>
                  <a:srgbClr val="EDEBFA"/>
                </a:solidFill>
                <a:latin typeface="Courier New"/>
              </a:rPr>
              <a:t>python -m retrieval.versioned index --repo ../requests --commit v2.31.0</a:t>
            </a:r>
          </a:p>
          <a:p>
            <a:pPr algn="l">
              <a:spcAft>
                <a:spcPts val="200"/>
              </a:spcAft>
            </a:pPr>
            <a:r>
              <a:rPr sz="900" b="0" i="0">
                <a:solidFill>
                  <a:srgbClr val="EDEBFA"/>
                </a:solidFill>
                <a:latin typeface="Courier New"/>
              </a:rPr>
              <a:t>python -m retrieval.versioned update --repo ../requests --commit v2.32.0</a:t>
            </a:r>
          </a:p>
          <a:p>
            <a:pPr algn="l">
              <a:spcAft>
                <a:spcPts val="200"/>
              </a:spcAft>
            </a:pPr>
            <a:r>
              <a:rPr sz="900" b="0" i="0">
                <a:solidFill>
                  <a:srgbClr val="EDEBFA"/>
                </a:solidFill>
                <a:latin typeface="Courier New"/>
              </a:rPr>
              <a:t>python -m retrieval.versioned query --commit v2.32.0 "get proxy settings"</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nvSpPr>
        <p:spPr>
          <a:xfrm>
            <a:off x="1046181" y="3730214"/>
            <a:ext cx="67665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4600"/>
              <a:buFont typeface="Arial"/>
              <a:buNone/>
            </a:pPr>
            <a:r>
              <a:rPr b="1" i="0" lang="en-US" sz="4600" u="none" cap="none" strike="noStrike">
                <a:solidFill>
                  <a:srgbClr val="14142B"/>
                </a:solidFill>
                <a:latin typeface="Arial"/>
                <a:ea typeface="Arial"/>
                <a:cs typeface="Arial"/>
                <a:sym typeface="Arial"/>
              </a:rPr>
              <a:t>Thank you</a:t>
            </a:r>
            <a:endParaRPr b="0" i="0" sz="4600" u="none" cap="none" strike="noStrike">
              <a:solidFill>
                <a:schemeClr val="dk1"/>
              </a:solidFill>
              <a:latin typeface="Calibri"/>
              <a:ea typeface="Calibri"/>
              <a:cs typeface="Calibri"/>
              <a:sym typeface="Calibri"/>
            </a:endParaRPr>
          </a:p>
        </p:txBody>
      </p:sp>
      <p:sp>
        <p:nvSpPr>
          <p:cNvPr id="163" name="Google Shape;163;p12"/>
          <p:cNvSpPr txBox="1"/>
          <p:nvPr/>
        </p:nvSpPr>
        <p:spPr>
          <a:xfrm>
            <a:off x="777240" y="5897880"/>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637E"/>
              </a:buClr>
              <a:buSzPts val="1100"/>
              <a:buFont typeface="Calibri"/>
              <a:buNone/>
            </a:pPr>
            <a:r>
              <a:rPr b="0" i="0" lang="en-US" sz="1100" u="none" cap="none" strike="noStrike">
                <a:solidFill>
                  <a:srgbClr val="63637E"/>
                </a:solidFill>
                <a:latin typeface="Calibri"/>
                <a:ea typeface="Calibri"/>
                <a:cs typeface="Calibri"/>
                <a:sym typeface="Calibri"/>
              </a:rPr>
              <a:t>Organised by the Language AI Team and the PRISM Team, Samsung R&amp;D Institute India</a:t>
            </a:r>
            <a:endParaRPr b="0" i="0" sz="1100" u="none" cap="none" strike="noStrike">
              <a:solidFill>
                <a:schemeClr val="dk1"/>
              </a:solidFill>
              <a:latin typeface="Calibri"/>
              <a:ea typeface="Calibri"/>
              <a:cs typeface="Calibri"/>
              <a:sym typeface="Calibri"/>
            </a:endParaRPr>
          </a:p>
        </p:txBody>
      </p:sp>
      <p:sp>
        <p:nvSpPr>
          <p:cNvPr id="164" name="TextBox 163"/>
          <p:cNvSpPr txBox="1"/>
          <p:nvPr/>
        </p:nvSpPr>
        <p:spPr>
          <a:xfrm>
            <a:off x="1042415" y="4663440"/>
            <a:ext cx="9144000" cy="365760"/>
          </a:xfrm>
          <a:prstGeom prst="rect">
            <a:avLst/>
          </a:prstGeom>
          <a:noFill/>
        </p:spPr>
        <p:txBody>
          <a:bodyPr wrap="square" lIns="0" rIns="0" tIns="0" bIns="0" anchor="t">
            <a:spAutoFit/>
          </a:bodyPr>
          <a:lstStyle/>
          <a:p>
            <a:pPr algn="l">
              <a:spcAft>
                <a:spcPts val="600"/>
              </a:spcAft>
            </a:pPr>
            <a:r>
              <a:rPr sz="1500" b="0" i="0">
                <a:solidFill>
                  <a:srgbClr val="55556E"/>
                </a:solidFill>
                <a:latin typeface="Calibri"/>
              </a:rPr>
              <a:t>Team Toothpaste Eaters  ·  SRM Institute of Science and Technology</a:t>
            </a:r>
          </a:p>
        </p:txBody>
      </p:sp>
      <p:sp>
        <p:nvSpPr>
          <p:cNvPr id="165" name="TextBox 164"/>
          <p:cNvSpPr txBox="1"/>
          <p:nvPr/>
        </p:nvSpPr>
        <p:spPr>
          <a:xfrm>
            <a:off x="1042415" y="5029200"/>
            <a:ext cx="9144000" cy="365760"/>
          </a:xfrm>
          <a:prstGeom prst="rect">
            <a:avLst/>
          </a:prstGeom>
          <a:noFill/>
        </p:spPr>
        <p:txBody>
          <a:bodyPr wrap="square" lIns="0" rIns="0" tIns="0" bIns="0" anchor="t">
            <a:spAutoFit/>
          </a:bodyPr>
          <a:lstStyle/>
          <a:p>
            <a:pPr algn="l">
              <a:spcAft>
                <a:spcPts val="600"/>
              </a:spcAft>
            </a:pPr>
            <a:r>
              <a:rPr sz="1400" b="0" i="0">
                <a:solidFill>
                  <a:srgbClr val="6D28D9"/>
                </a:solidFill>
                <a:latin typeface="Calibri"/>
                <a:hlinkClick r:id="rId3"/>
              </a:rPr>
              <a:t>github.com/madhurgrover-cs/TASIE</a:t>
            </a:r>
            <a:r>
              <a:rPr sz="1400" b="0" i="0">
                <a:solidFill>
                  <a:srgbClr val="55556E"/>
                </a:solidFill>
                <a:latin typeface="Calibri"/>
              </a:rPr>
              <a:t>   ·   </a:t>
            </a:r>
            <a:r>
              <a:rPr sz="1400" b="0" i="0">
                <a:solidFill>
                  <a:srgbClr val="6D28D9"/>
                </a:solidFill>
                <a:latin typeface="Calibri"/>
                <a:hlinkClick r:id="rId4"/>
              </a:rPr>
              <a:t>Live demo on Hugging Face</a:t>
            </a:r>
            <a:r>
              <a:rPr sz="1400" b="0" i="0">
                <a:solidFill>
                  <a:srgbClr val="55556E"/>
                </a:solidFill>
                <a:latin typeface="Calibri"/>
              </a:rPr>
              <a:t>   ·   </a:t>
            </a:r>
            <a:r>
              <a:rPr sz="1400" b="0" i="0">
                <a:solidFill>
                  <a:srgbClr val="6D28D9"/>
                </a:solidFill>
                <a:latin typeface="Calibri"/>
                <a:hlinkClick r:id="rId5"/>
              </a:rPr>
              <a:t>Demo video</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2026-09-07T12:01:01Z</dcterms:created>
  <dc:creator>Binny Lakra/PRISM /SRI-Bangalore/Professional/Samsung Electronics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